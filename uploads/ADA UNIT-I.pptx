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42" r:id="rId2"/>
    <p:sldId id="257" r:id="rId3"/>
    <p:sldId id="258" r:id="rId4"/>
    <p:sldId id="259" r:id="rId5"/>
    <p:sldId id="260" r:id="rId6"/>
    <p:sldId id="275" r:id="rId7"/>
    <p:sldId id="276" r:id="rId8"/>
    <p:sldId id="277" r:id="rId9"/>
    <p:sldId id="278" r:id="rId10"/>
    <p:sldId id="282" r:id="rId11"/>
    <p:sldId id="283" r:id="rId12"/>
    <p:sldId id="279" r:id="rId13"/>
    <p:sldId id="284" r:id="rId14"/>
    <p:sldId id="281" r:id="rId15"/>
    <p:sldId id="280" r:id="rId16"/>
    <p:sldId id="261" r:id="rId17"/>
    <p:sldId id="262" r:id="rId18"/>
    <p:sldId id="263" r:id="rId19"/>
    <p:sldId id="264" r:id="rId20"/>
    <p:sldId id="265" r:id="rId21"/>
    <p:sldId id="266" r:id="rId22"/>
    <p:sldId id="267" r:id="rId23"/>
    <p:sldId id="268" r:id="rId24"/>
    <p:sldId id="269" r:id="rId25"/>
    <p:sldId id="270" r:id="rId26"/>
    <p:sldId id="271" r:id="rId27"/>
    <p:sldId id="272" r:id="rId28"/>
    <p:sldId id="273" r:id="rId29"/>
    <p:sldId id="302" r:id="rId30"/>
    <p:sldId id="344" r:id="rId31"/>
    <p:sldId id="303" r:id="rId32"/>
    <p:sldId id="304" r:id="rId33"/>
    <p:sldId id="305" r:id="rId34"/>
    <p:sldId id="306" r:id="rId35"/>
    <p:sldId id="307" r:id="rId36"/>
    <p:sldId id="308" r:id="rId37"/>
    <p:sldId id="309" r:id="rId38"/>
    <p:sldId id="27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3" r:id="rId8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4" d="100"/>
          <a:sy n="94" d="100"/>
        </p:scale>
        <p:origin x="-1114"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hyperlink" Target="https://www.geeksforgeeks.org/analysis-algorithm-set-4-master-method-solving-recurrences/"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hyperlink" Target="https://www.geeksforgeeks.org/analysis-algorithm-set-4-master-method-solving-recurrences/"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4038600"/>
            <a:ext cx="6400800" cy="1752600"/>
          </a:xfrm>
        </p:spPr>
        <p:txBody>
          <a:bodyPr/>
          <a:lstStyle/>
          <a:p>
            <a:r>
              <a:rPr lang="en-US" sz="4000" b="1" dirty="0" smtClean="0">
                <a:solidFill>
                  <a:schemeClr val="tx1"/>
                </a:solidFill>
              </a:rPr>
              <a:t>Introduction to Algorithms</a:t>
            </a:r>
            <a:endParaRPr lang="en-US" dirty="0">
              <a:solidFill>
                <a:schemeClr val="tx1"/>
              </a:solidFill>
            </a:endParaRPr>
          </a:p>
        </p:txBody>
      </p:sp>
      <p:sp>
        <p:nvSpPr>
          <p:cNvPr id="2" name="Title 1"/>
          <p:cNvSpPr>
            <a:spLocks noGrp="1"/>
          </p:cNvSpPr>
          <p:nvPr>
            <p:ph type="ctrTitle"/>
          </p:nvPr>
        </p:nvSpPr>
        <p:spPr/>
        <p:txBody>
          <a:bodyPr anchor="t"/>
          <a:lstStyle/>
          <a:p>
            <a:r>
              <a:rPr lang="en-IN" b="1" dirty="0" smtClean="0"/>
              <a:t>Unit-1</a:t>
            </a:r>
            <a:endParaRPr lang="en-US" b="1" dirty="0"/>
          </a:p>
        </p:txBody>
      </p:sp>
      <p:pic>
        <p:nvPicPr>
          <p:cNvPr id="4" name="Picture 16"/>
          <p:cNvPicPr preferRelativeResize="0">
            <a:picLocks noChangeAspect="1" noChangeArrowheads="1"/>
          </p:cNvPicPr>
          <p:nvPr/>
        </p:nvPicPr>
        <p:blipFill>
          <a:blip r:embed="rId2" cstate="print"/>
          <a:srcRect/>
          <a:stretch>
            <a:fillRect/>
          </a:stretch>
        </p:blipFill>
        <p:spPr bwMode="auto">
          <a:xfrm>
            <a:off x="7634287" y="76200"/>
            <a:ext cx="1433513" cy="123348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8" descr="image000"/>
          <p:cNvPicPr preferRelativeResize="0">
            <a:picLocks noChangeAspect="1" noChangeArrowheads="1"/>
          </p:cNvPicPr>
          <p:nvPr/>
        </p:nvPicPr>
        <p:blipFill>
          <a:blip r:embed="rId3" cstate="print"/>
          <a:srcRect/>
          <a:stretch>
            <a:fillRect/>
          </a:stretch>
        </p:blipFill>
        <p:spPr bwMode="auto">
          <a:xfrm>
            <a:off x="95250" y="76200"/>
            <a:ext cx="1276350" cy="12192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6" name="TextBox 5"/>
          <p:cNvSpPr txBox="1"/>
          <p:nvPr/>
        </p:nvSpPr>
        <p:spPr>
          <a:xfrm>
            <a:off x="1447800" y="152400"/>
            <a:ext cx="6172200" cy="1231106"/>
          </a:xfrm>
          <a:prstGeom prst="rect">
            <a:avLst/>
          </a:prstGeom>
          <a:noFill/>
        </p:spPr>
        <p:txBody>
          <a:bodyPr wrap="square" rtlCol="0">
            <a:spAutoFit/>
          </a:bodyPr>
          <a:lstStyle/>
          <a:p>
            <a:pPr algn="ctr"/>
            <a:r>
              <a:rPr lang="en-US" sz="2500" b="1" dirty="0" smtClean="0">
                <a:solidFill>
                  <a:srgbClr val="0033CC"/>
                </a:solidFill>
                <a:effectLst>
                  <a:outerShdw blurRad="38100" dist="38100" dir="2700000" algn="tl">
                    <a:srgbClr val="000000">
                      <a:alpha val="43137"/>
                    </a:srgbClr>
                  </a:outerShdw>
                </a:effectLst>
              </a:rPr>
              <a:t>CHAMELI DEVI GROUP OF INSTITUTIONS, INDORE</a:t>
            </a:r>
          </a:p>
          <a:p>
            <a:pPr algn="ctr"/>
            <a:endParaRPr lang="en-US" sz="2400" dirty="0"/>
          </a:p>
        </p:txBody>
      </p:sp>
      <p:sp>
        <p:nvSpPr>
          <p:cNvPr id="7" name="TextBox 6"/>
          <p:cNvSpPr txBox="1"/>
          <p:nvPr/>
        </p:nvSpPr>
        <p:spPr>
          <a:xfrm>
            <a:off x="152400" y="5181601"/>
            <a:ext cx="4800600" cy="1200329"/>
          </a:xfrm>
          <a:prstGeom prst="rect">
            <a:avLst/>
          </a:prstGeom>
          <a:noFill/>
        </p:spPr>
        <p:txBody>
          <a:bodyPr wrap="square" rtlCol="0">
            <a:spAutoFit/>
          </a:bodyPr>
          <a:lstStyle/>
          <a:p>
            <a:r>
              <a:rPr lang="en-IN" b="1" dirty="0" smtClean="0"/>
              <a:t>Prepared By:</a:t>
            </a:r>
          </a:p>
          <a:p>
            <a:r>
              <a:rPr lang="en-IN" b="1" dirty="0" smtClean="0"/>
              <a:t>Mr </a:t>
            </a:r>
            <a:r>
              <a:rPr lang="en-IN" b="1" dirty="0" err="1" smtClean="0"/>
              <a:t>Sumeet</a:t>
            </a:r>
            <a:r>
              <a:rPr lang="en-IN" b="1" dirty="0" smtClean="0"/>
              <a:t> Kothari</a:t>
            </a:r>
          </a:p>
          <a:p>
            <a:r>
              <a:rPr lang="en-IN" b="1" dirty="0" smtClean="0"/>
              <a:t>Asst. Professor</a:t>
            </a:r>
          </a:p>
          <a:p>
            <a:r>
              <a:rPr lang="en-IN" b="1" dirty="0" smtClean="0"/>
              <a:t>Department of Computer Science &amp; Engineering</a:t>
            </a:r>
            <a:endParaRPr lang="en-US"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Algorithm</a:t>
            </a:r>
            <a:endParaRPr lang="en-US" sz="4000"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2800" dirty="0" smtClean="0"/>
              <a:t>Algorithm is a step-by-step procedure, which defines a set of instructions to be executed in a certain order to get the desired output. </a:t>
            </a:r>
          </a:p>
          <a:p>
            <a:pPr algn="just">
              <a:buFont typeface="Wingdings" pitchFamily="2" charset="2"/>
              <a:buChar char="Ø"/>
            </a:pPr>
            <a:r>
              <a:rPr lang="en-US" sz="2800" dirty="0" smtClean="0"/>
              <a:t>Algorithms are generally created independent of underlying languages, i.e. an algorithm can be implemented in more than one programming language.</a:t>
            </a:r>
            <a:endParaRPr lang="en-US" sz="36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Properties of Algorithm</a:t>
            </a:r>
          </a:p>
        </p:txBody>
      </p:sp>
      <p:sp>
        <p:nvSpPr>
          <p:cNvPr id="3" name="Content Placeholder 2"/>
          <p:cNvSpPr>
            <a:spLocks noGrp="1"/>
          </p:cNvSpPr>
          <p:nvPr>
            <p:ph idx="1"/>
          </p:nvPr>
        </p:nvSpPr>
        <p:spPr/>
        <p:txBody>
          <a:bodyPr>
            <a:normAutofit fontScale="92500" lnSpcReduction="20000"/>
          </a:bodyPr>
          <a:lstStyle/>
          <a:p>
            <a:pPr algn="just"/>
            <a:r>
              <a:rPr lang="en-US" sz="3300" b="1" dirty="0" smtClean="0"/>
              <a:t>Unambiguous</a:t>
            </a:r>
            <a:r>
              <a:rPr lang="en-US" sz="4700" dirty="0" smtClean="0"/>
              <a:t> </a:t>
            </a:r>
            <a:r>
              <a:rPr lang="en-US" sz="3800" dirty="0" smtClean="0"/>
              <a:t>− </a:t>
            </a:r>
            <a:r>
              <a:rPr lang="en-US" sz="3300" dirty="0" smtClean="0"/>
              <a:t>Algorithm should be clear and unambiguous. Each of its steps (or phases), and their inputs/outputs should be clear and must lead to only one meaning.</a:t>
            </a:r>
            <a:endParaRPr lang="en-US" sz="4200" dirty="0" smtClean="0"/>
          </a:p>
          <a:p>
            <a:pPr algn="just">
              <a:buNone/>
            </a:pPr>
            <a:endParaRPr lang="en-US" sz="2800" dirty="0" smtClean="0"/>
          </a:p>
          <a:p>
            <a:pPr algn="just"/>
            <a:r>
              <a:rPr lang="en-US" sz="3300" b="1" dirty="0" smtClean="0"/>
              <a:t>Range  of Input </a:t>
            </a:r>
            <a:r>
              <a:rPr lang="en-US" sz="2800" dirty="0" smtClean="0"/>
              <a:t>− </a:t>
            </a:r>
            <a:r>
              <a:rPr lang="en-US" sz="3300" dirty="0" smtClean="0"/>
              <a:t>The range of input should be specified. This is because the algorithm is input driven and if the range of the input is not been specified then algorithm can go in an infinite state.</a:t>
            </a:r>
          </a:p>
          <a:p>
            <a:pPr>
              <a:buNone/>
            </a:pP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Algorithm</a:t>
            </a:r>
            <a:endParaRPr lang="en-US" dirty="0"/>
          </a:p>
        </p:txBody>
      </p:sp>
      <p:sp>
        <p:nvSpPr>
          <p:cNvPr id="3" name="Content Placeholder 2"/>
          <p:cNvSpPr>
            <a:spLocks noGrp="1"/>
          </p:cNvSpPr>
          <p:nvPr>
            <p:ph idx="1"/>
          </p:nvPr>
        </p:nvSpPr>
        <p:spPr/>
        <p:txBody>
          <a:bodyPr/>
          <a:lstStyle/>
          <a:p>
            <a:pPr algn="just"/>
            <a:r>
              <a:rPr lang="en-US" sz="3100" b="1" dirty="0" smtClean="0"/>
              <a:t>Finiteness </a:t>
            </a:r>
            <a:r>
              <a:rPr lang="en-US" dirty="0" smtClean="0"/>
              <a:t>− Algorithms must terminate after a finite number of steps.</a:t>
            </a:r>
          </a:p>
          <a:p>
            <a:pPr algn="just"/>
            <a:endParaRPr lang="en-US" dirty="0" smtClean="0"/>
          </a:p>
          <a:p>
            <a:pPr algn="just"/>
            <a:r>
              <a:rPr lang="en-US" b="1" dirty="0" smtClean="0"/>
              <a:t>Speed</a:t>
            </a:r>
            <a:r>
              <a:rPr lang="en-US" dirty="0" smtClean="0"/>
              <a:t>− The algorithms are written using some specific ideas .But such algorithms should be efficient and should produce the output with fast speed.</a:t>
            </a:r>
          </a:p>
          <a:p>
            <a:pPr>
              <a:buNone/>
            </a:pPr>
            <a:endParaRPr lang="en-US" dirty="0" smtClean="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Properties of Algorithm</a:t>
            </a:r>
            <a:endParaRPr lang="en-US" dirty="0"/>
          </a:p>
        </p:txBody>
      </p:sp>
      <p:sp>
        <p:nvSpPr>
          <p:cNvPr id="3" name="Content Placeholder 2"/>
          <p:cNvSpPr>
            <a:spLocks noGrp="1"/>
          </p:cNvSpPr>
          <p:nvPr>
            <p:ph idx="1"/>
          </p:nvPr>
        </p:nvSpPr>
        <p:spPr/>
        <p:txBody>
          <a:bodyPr/>
          <a:lstStyle/>
          <a:p>
            <a:pPr algn="just"/>
            <a:r>
              <a:rPr lang="en-US" sz="3100" b="1" dirty="0" smtClean="0"/>
              <a:t>Multiplicity </a:t>
            </a:r>
            <a:r>
              <a:rPr lang="en-US" dirty="0" smtClean="0"/>
              <a:t>− The same algorithms can be represented in several different ways. Similarly for solving the same problem we can write several different algorithms.</a:t>
            </a:r>
          </a:p>
          <a:p>
            <a:endParaRPr lang="en-US" dirty="0" smtClean="0"/>
          </a:p>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Algorithm Design Techniques</a:t>
            </a:r>
            <a:endParaRPr lang="en-US" dirty="0"/>
          </a:p>
        </p:txBody>
      </p:sp>
      <p:sp>
        <p:nvSpPr>
          <p:cNvPr id="3" name="Content Placeholder 2"/>
          <p:cNvSpPr>
            <a:spLocks noGrp="1"/>
          </p:cNvSpPr>
          <p:nvPr>
            <p:ph idx="1"/>
          </p:nvPr>
        </p:nvSpPr>
        <p:spPr/>
        <p:txBody>
          <a:bodyPr>
            <a:normAutofit/>
          </a:bodyPr>
          <a:lstStyle/>
          <a:p>
            <a:pPr algn="just">
              <a:buFont typeface="Wingdings" pitchFamily="2" charset="2"/>
              <a:buChar char="Ø"/>
            </a:pPr>
            <a:r>
              <a:rPr lang="en-US" sz="2800" dirty="0" smtClean="0"/>
              <a:t>Divide and Conquer Approach</a:t>
            </a:r>
          </a:p>
          <a:p>
            <a:pPr algn="just">
              <a:buFont typeface="Wingdings" pitchFamily="2" charset="2"/>
              <a:buChar char="Ø"/>
            </a:pPr>
            <a:r>
              <a:rPr lang="en-US" sz="2800" dirty="0" smtClean="0"/>
              <a:t>Greedy Technique </a:t>
            </a:r>
          </a:p>
          <a:p>
            <a:pPr algn="just">
              <a:buFont typeface="Wingdings" pitchFamily="2" charset="2"/>
              <a:buChar char="Ø"/>
            </a:pPr>
            <a:r>
              <a:rPr lang="en-US" sz="2800" dirty="0" smtClean="0"/>
              <a:t>Dynamic Programming </a:t>
            </a:r>
          </a:p>
          <a:p>
            <a:pPr algn="just">
              <a:buFont typeface="Wingdings" pitchFamily="2" charset="2"/>
              <a:buChar char="Ø"/>
            </a:pPr>
            <a:r>
              <a:rPr lang="en-US" sz="2800" dirty="0" smtClean="0"/>
              <a:t>Backtracking Algorithm</a:t>
            </a:r>
          </a:p>
          <a:p>
            <a:pPr algn="just">
              <a:buFont typeface="Wingdings" pitchFamily="2" charset="2"/>
              <a:buChar char="Ø"/>
            </a:pPr>
            <a:r>
              <a:rPr lang="en-US" sz="2800" dirty="0" smtClean="0"/>
              <a:t>Branch and Bound </a:t>
            </a:r>
          </a:p>
          <a:p>
            <a:pPr algn="just">
              <a:buNone/>
            </a:pPr>
            <a:r>
              <a:rPr lang="en-US" sz="3500" dirty="0" smtClean="0"/>
              <a:t> </a:t>
            </a:r>
          </a:p>
          <a:p>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Divide and Conquer Approach</a:t>
            </a:r>
            <a:endParaRPr lang="en-US" dirty="0"/>
          </a:p>
        </p:txBody>
      </p:sp>
      <p:sp>
        <p:nvSpPr>
          <p:cNvPr id="3" name="Content Placeholder 2"/>
          <p:cNvSpPr>
            <a:spLocks noGrp="1"/>
          </p:cNvSpPr>
          <p:nvPr>
            <p:ph idx="1"/>
          </p:nvPr>
        </p:nvSpPr>
        <p:spPr>
          <a:xfrm>
            <a:off x="457200" y="1600200"/>
            <a:ext cx="8229600" cy="4648200"/>
          </a:xfrm>
        </p:spPr>
        <p:txBody>
          <a:bodyPr>
            <a:normAutofit/>
          </a:bodyPr>
          <a:lstStyle/>
          <a:p>
            <a:pPr algn="just">
              <a:buNone/>
            </a:pPr>
            <a:r>
              <a:rPr lang="en-US" sz="3000" dirty="0" smtClean="0"/>
              <a:t>It is a top-down approach. The divide &amp; conquer techniques involve three steps:</a:t>
            </a:r>
          </a:p>
          <a:p>
            <a:pPr algn="just">
              <a:buFont typeface="Wingdings" pitchFamily="2" charset="2"/>
              <a:buChar char="Ø"/>
            </a:pPr>
            <a:r>
              <a:rPr lang="en-US" sz="3000" dirty="0" smtClean="0"/>
              <a:t>Divide the original problem into a set of sub problems.</a:t>
            </a:r>
          </a:p>
          <a:p>
            <a:pPr algn="just">
              <a:buFont typeface="Wingdings" pitchFamily="2" charset="2"/>
              <a:buChar char="Ø"/>
            </a:pPr>
            <a:r>
              <a:rPr lang="en-US" sz="3000" dirty="0" smtClean="0"/>
              <a:t>Solve every sub problem individually, recursively.</a:t>
            </a:r>
          </a:p>
          <a:p>
            <a:pPr algn="just">
              <a:buFont typeface="Wingdings" pitchFamily="2" charset="2"/>
              <a:buChar char="Ø"/>
            </a:pPr>
            <a:r>
              <a:rPr lang="en-US" sz="3000" dirty="0" smtClean="0"/>
              <a:t>Combine the solution of the sub problems (top level) into a solution of the whole original problem.</a:t>
            </a: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Greedy Technique</a:t>
            </a:r>
          </a:p>
        </p:txBody>
      </p:sp>
      <p:sp>
        <p:nvSpPr>
          <p:cNvPr id="3" name="Content Placeholder 2"/>
          <p:cNvSpPr>
            <a:spLocks noGrp="1"/>
          </p:cNvSpPr>
          <p:nvPr>
            <p:ph idx="1"/>
          </p:nvPr>
        </p:nvSpPr>
        <p:spPr/>
        <p:txBody>
          <a:bodyPr>
            <a:normAutofit/>
          </a:bodyPr>
          <a:lstStyle/>
          <a:p>
            <a:pPr algn="just"/>
            <a:r>
              <a:rPr lang="en-US" sz="2800" dirty="0" smtClean="0"/>
              <a:t>An algorithm is designed to achieve optimum solution for a given problem.</a:t>
            </a:r>
          </a:p>
          <a:p>
            <a:pPr algn="just"/>
            <a:r>
              <a:rPr lang="en-US" sz="2800" dirty="0" smtClean="0"/>
              <a:t> In greedy algorithm approach, decisions are made from the given solution domain. As being greedy, the closest solution that seems to provide an optimum solution is chosen.</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Counting Coins</a:t>
            </a:r>
            <a:br>
              <a:rPr lang="en-US" dirty="0" smtClean="0"/>
            </a:br>
            <a:endParaRPr lang="en-US" dirty="0" smtClean="0"/>
          </a:p>
        </p:txBody>
      </p:sp>
      <p:sp>
        <p:nvSpPr>
          <p:cNvPr id="3" name="Content Placeholder 2"/>
          <p:cNvSpPr>
            <a:spLocks noGrp="1"/>
          </p:cNvSpPr>
          <p:nvPr>
            <p:ph idx="1"/>
          </p:nvPr>
        </p:nvSpPr>
        <p:spPr/>
        <p:txBody>
          <a:bodyPr>
            <a:normAutofit/>
          </a:bodyPr>
          <a:lstStyle/>
          <a:p>
            <a:pPr algn="just"/>
            <a:r>
              <a:rPr lang="en-US" sz="2800" dirty="0" smtClean="0"/>
              <a:t>This problem is to count to a desired value by choosing the least possible coins </a:t>
            </a:r>
          </a:p>
          <a:p>
            <a:pPr algn="just"/>
            <a:r>
              <a:rPr lang="en-US" sz="2800" dirty="0" smtClean="0"/>
              <a:t>The greedy approach forces the algorithm to pick the largest possible coin. </a:t>
            </a:r>
          </a:p>
          <a:p>
            <a:pPr algn="just"/>
            <a:r>
              <a:rPr lang="en-US" sz="2800" dirty="0" smtClean="0"/>
              <a:t>If we are provided coins of ₹ 1, 2, 5 and 10 and we are asked to count ₹ 18 then the greedy procedure will be −</a:t>
            </a:r>
            <a:endParaRPr 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Counting Coins </a:t>
            </a:r>
            <a:r>
              <a:rPr lang="en-US" dirty="0" err="1" smtClean="0"/>
              <a:t>Contd</a:t>
            </a:r>
            <a:r>
              <a:rPr lang="en-US" dirty="0" smtClean="0"/>
              <a:t/>
            </a:r>
            <a:br>
              <a:rPr lang="en-US" dirty="0" smtClean="0"/>
            </a:br>
            <a:endParaRPr lang="en-US" dirty="0" smtClean="0"/>
          </a:p>
        </p:txBody>
      </p:sp>
      <p:sp>
        <p:nvSpPr>
          <p:cNvPr id="3" name="Content Placeholder 2"/>
          <p:cNvSpPr>
            <a:spLocks noGrp="1"/>
          </p:cNvSpPr>
          <p:nvPr>
            <p:ph idx="1"/>
          </p:nvPr>
        </p:nvSpPr>
        <p:spPr/>
        <p:txBody>
          <a:bodyPr>
            <a:normAutofit/>
          </a:bodyPr>
          <a:lstStyle/>
          <a:p>
            <a:pPr algn="just"/>
            <a:r>
              <a:rPr lang="en-US" sz="2800" dirty="0" smtClean="0"/>
              <a:t>Select one ₹ 10 coin, the remaining count is 8</a:t>
            </a:r>
          </a:p>
          <a:p>
            <a:pPr algn="just"/>
            <a:r>
              <a:rPr lang="en-US" sz="2800" dirty="0" smtClean="0"/>
              <a:t>Then select one ₹ 5 coin, the remaining count is 3</a:t>
            </a:r>
          </a:p>
          <a:p>
            <a:pPr algn="just"/>
            <a:r>
              <a:rPr lang="en-US" sz="2800" dirty="0" smtClean="0"/>
              <a:t>Then select one ₹ 2 coin, the remaining count is 1</a:t>
            </a:r>
          </a:p>
          <a:p>
            <a:pPr algn="just"/>
            <a:r>
              <a:rPr lang="en-US" sz="2800" dirty="0" smtClean="0"/>
              <a:t>And finally, the selection of one ₹ 1 coins solves the problem</a:t>
            </a:r>
          </a:p>
          <a:p>
            <a:pPr algn="just"/>
            <a:r>
              <a:rPr lang="en-US" sz="2800" dirty="0" smtClean="0"/>
              <a:t>For this count we need to pick only 4 coins.</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dirty="0" smtClean="0"/>
              <a:t> Counting Coins </a:t>
            </a:r>
            <a:r>
              <a:rPr lang="en-US" dirty="0" err="1" smtClean="0"/>
              <a:t>Contd</a:t>
            </a:r>
            <a:r>
              <a:rPr lang="en-US" dirty="0" smtClean="0"/>
              <a:t> </a:t>
            </a:r>
            <a:br>
              <a:rPr lang="en-US" dirty="0" smtClean="0"/>
            </a:br>
            <a:endParaRPr lang="en-US" dirty="0" smtClean="0"/>
          </a:p>
        </p:txBody>
      </p:sp>
      <p:sp>
        <p:nvSpPr>
          <p:cNvPr id="3" name="Content Placeholder 2"/>
          <p:cNvSpPr>
            <a:spLocks noGrp="1"/>
          </p:cNvSpPr>
          <p:nvPr>
            <p:ph idx="1"/>
          </p:nvPr>
        </p:nvSpPr>
        <p:spPr/>
        <p:txBody>
          <a:bodyPr>
            <a:normAutofit/>
          </a:bodyPr>
          <a:lstStyle/>
          <a:p>
            <a:pPr algn="just"/>
            <a:r>
              <a:rPr lang="en-US" sz="2800" dirty="0" smtClean="0"/>
              <a:t>For the currency system, where we have coins of 1, 7, 10 value, counting coins for value 15 </a:t>
            </a:r>
          </a:p>
          <a:p>
            <a:pPr algn="just"/>
            <a:r>
              <a:rPr lang="en-US" sz="2800" dirty="0" smtClean="0"/>
              <a:t>It may use more coins than necessary.</a:t>
            </a:r>
          </a:p>
          <a:p>
            <a:pPr algn="just"/>
            <a:r>
              <a:rPr lang="en-US" sz="2800" dirty="0" smtClean="0"/>
              <a:t> For example, the greedy approach will use 10 + 1 + 1 + 1 + 1 + 1, total 6 coins.</a:t>
            </a:r>
          </a:p>
          <a:p>
            <a:pPr algn="just"/>
            <a:r>
              <a:rPr lang="en-US" sz="2800" dirty="0" smtClean="0"/>
              <a:t> Whereas the same problem could be solved by using only 3 coins (7 + 7 + 1).</a:t>
            </a:r>
            <a:endParaRPr lang="en-US" sz="2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Dynamic Programming</a:t>
            </a:r>
          </a:p>
        </p:txBody>
      </p:sp>
      <p:sp>
        <p:nvSpPr>
          <p:cNvPr id="3" name="Content Placeholder 2"/>
          <p:cNvSpPr>
            <a:spLocks noGrp="1"/>
          </p:cNvSpPr>
          <p:nvPr>
            <p:ph idx="1"/>
          </p:nvPr>
        </p:nvSpPr>
        <p:spPr/>
        <p:txBody>
          <a:bodyPr>
            <a:normAutofit/>
          </a:bodyPr>
          <a:lstStyle/>
          <a:p>
            <a:pPr algn="just"/>
            <a:r>
              <a:rPr lang="en-US" dirty="0" smtClean="0"/>
              <a:t>Dynamic programming approach is similar to divide and conquer in breaking down the problem into smaller </a:t>
            </a:r>
          </a:p>
          <a:p>
            <a:pPr algn="just"/>
            <a:r>
              <a:rPr lang="en-US" dirty="0" smtClean="0"/>
              <a:t> But unlike, divide and conquer, these sub-problems are not solved independently. </a:t>
            </a:r>
          </a:p>
          <a:p>
            <a:pPr algn="just"/>
            <a:r>
              <a:rPr lang="en-US" dirty="0" smtClean="0"/>
              <a:t>Rather, results of these smaller sub-problems are remembered and used for similar or overlapping sub-problems.</a:t>
            </a:r>
          </a:p>
          <a:p>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Dynamic Programming</a:t>
            </a:r>
          </a:p>
        </p:txBody>
      </p:sp>
      <p:sp>
        <p:nvSpPr>
          <p:cNvPr id="3" name="Content Placeholder 2"/>
          <p:cNvSpPr>
            <a:spLocks noGrp="1"/>
          </p:cNvSpPr>
          <p:nvPr>
            <p:ph idx="1"/>
          </p:nvPr>
        </p:nvSpPr>
        <p:spPr/>
        <p:txBody>
          <a:bodyPr>
            <a:normAutofit lnSpcReduction="10000"/>
          </a:bodyPr>
          <a:lstStyle/>
          <a:p>
            <a:pPr algn="just"/>
            <a:r>
              <a:rPr lang="en-US" dirty="0" smtClean="0"/>
              <a:t>Dynamic programming is used where we have problems, which can be divided into similar sub-problems, so that their results can be re-used. </a:t>
            </a:r>
          </a:p>
          <a:p>
            <a:pPr algn="just"/>
            <a:r>
              <a:rPr lang="en-US" dirty="0" smtClean="0"/>
              <a:t>Mostly, these algorithms are used for optimization. </a:t>
            </a:r>
          </a:p>
          <a:p>
            <a:pPr algn="just"/>
            <a:r>
              <a:rPr lang="en-US" dirty="0" smtClean="0"/>
              <a:t>Before solving the in-hand sub-problem, dynamic algorithm will try to examine the results of the previously solved sub-problems. </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Backtracking Algorithm</a:t>
            </a:r>
          </a:p>
        </p:txBody>
      </p:sp>
      <p:sp>
        <p:nvSpPr>
          <p:cNvPr id="3" name="Content Placeholder 2"/>
          <p:cNvSpPr>
            <a:spLocks noGrp="1"/>
          </p:cNvSpPr>
          <p:nvPr>
            <p:ph idx="1"/>
          </p:nvPr>
        </p:nvSpPr>
        <p:spPr/>
        <p:txBody>
          <a:bodyPr/>
          <a:lstStyle/>
          <a:p>
            <a:pPr algn="just"/>
            <a:r>
              <a:rPr lang="en-US" dirty="0" smtClean="0"/>
              <a:t>Backtracking Algorithm tries each possibility until they find the right one.</a:t>
            </a:r>
          </a:p>
          <a:p>
            <a:pPr algn="just"/>
            <a:r>
              <a:rPr lang="en-US" dirty="0" smtClean="0"/>
              <a:t> It is a depth-first search of the set of possible solution. During the search, if an alternative doesn't work, then backtrack to the choice point, the place which presented different alternatives, and tries the next alternative.</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Branch and Bound</a:t>
            </a:r>
          </a:p>
        </p:txBody>
      </p:sp>
      <p:sp>
        <p:nvSpPr>
          <p:cNvPr id="3" name="Content Placeholder 2"/>
          <p:cNvSpPr>
            <a:spLocks noGrp="1"/>
          </p:cNvSpPr>
          <p:nvPr>
            <p:ph idx="1"/>
          </p:nvPr>
        </p:nvSpPr>
        <p:spPr/>
        <p:txBody>
          <a:bodyPr>
            <a:normAutofit/>
          </a:bodyPr>
          <a:lstStyle/>
          <a:p>
            <a:pPr algn="just"/>
            <a:r>
              <a:rPr lang="en-US" dirty="0" smtClean="0"/>
              <a:t> In Branch &amp; Bound algorithm a given sub problem, which cannot be bounded, has to be divided into at least two new restricted sub problems. Branch and Bound algorithm are methods for global optimization in non-convex problems. </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4900" dirty="0" smtClean="0"/>
              <a:t>Algorithm Analysis</a:t>
            </a:r>
            <a:r>
              <a:rPr lang="en-US" b="1" dirty="0" smtClean="0"/>
              <a:t/>
            </a:r>
            <a:br>
              <a:rPr lang="en-US" b="1" dirty="0" smtClean="0"/>
            </a:br>
            <a:endParaRPr lang="en-US" dirty="0"/>
          </a:p>
        </p:txBody>
      </p:sp>
      <p:sp>
        <p:nvSpPr>
          <p:cNvPr id="3" name="Content Placeholder 2"/>
          <p:cNvSpPr>
            <a:spLocks noGrp="1"/>
          </p:cNvSpPr>
          <p:nvPr>
            <p:ph idx="1"/>
          </p:nvPr>
        </p:nvSpPr>
        <p:spPr/>
        <p:txBody>
          <a:bodyPr/>
          <a:lstStyle/>
          <a:p>
            <a:endParaRPr lang="en-US" dirty="0"/>
          </a:p>
        </p:txBody>
      </p:sp>
      <p:sp>
        <p:nvSpPr>
          <p:cNvPr id="4" name="Oval 3"/>
          <p:cNvSpPr/>
          <p:nvPr/>
        </p:nvSpPr>
        <p:spPr>
          <a:xfrm>
            <a:off x="2895600" y="3429000"/>
            <a:ext cx="3048000" cy="914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chemeClr val="bg1"/>
                </a:solidFill>
              </a:rPr>
              <a:t>Analysis Framework</a:t>
            </a:r>
            <a:endParaRPr lang="en-US" b="1" dirty="0">
              <a:solidFill>
                <a:schemeClr val="bg1"/>
              </a:solidFill>
            </a:endParaRPr>
          </a:p>
        </p:txBody>
      </p:sp>
      <p:sp>
        <p:nvSpPr>
          <p:cNvPr id="5" name="Oval 4"/>
          <p:cNvSpPr/>
          <p:nvPr/>
        </p:nvSpPr>
        <p:spPr>
          <a:xfrm>
            <a:off x="2895600" y="1600200"/>
            <a:ext cx="3581400" cy="10668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chemeClr val="bg1"/>
                </a:solidFill>
              </a:rPr>
              <a:t>Computing Best case , Worst case and Average case efficiencies</a:t>
            </a:r>
          </a:p>
        </p:txBody>
      </p:sp>
      <p:sp>
        <p:nvSpPr>
          <p:cNvPr id="6" name="Oval 5"/>
          <p:cNvSpPr/>
          <p:nvPr/>
        </p:nvSpPr>
        <p:spPr>
          <a:xfrm>
            <a:off x="5791200" y="2590800"/>
            <a:ext cx="2743200" cy="6858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b="1" dirty="0" smtClean="0">
              <a:solidFill>
                <a:schemeClr val="tx1"/>
              </a:solidFill>
            </a:endParaRPr>
          </a:p>
          <a:p>
            <a:pPr algn="ctr"/>
            <a:r>
              <a:rPr lang="en-US" b="1" dirty="0" smtClean="0">
                <a:solidFill>
                  <a:schemeClr val="bg1"/>
                </a:solidFill>
              </a:rPr>
              <a:t>Measuring Input Size</a:t>
            </a:r>
          </a:p>
          <a:p>
            <a:pPr algn="ctr"/>
            <a:endParaRPr lang="en-US" dirty="0"/>
          </a:p>
        </p:txBody>
      </p:sp>
      <p:sp>
        <p:nvSpPr>
          <p:cNvPr id="8" name="Oval 7"/>
          <p:cNvSpPr/>
          <p:nvPr/>
        </p:nvSpPr>
        <p:spPr>
          <a:xfrm>
            <a:off x="5943600" y="4419600"/>
            <a:ext cx="2514600" cy="76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chemeClr val="bg1"/>
                </a:solidFill>
              </a:rPr>
              <a:t>Measuring Running Time</a:t>
            </a:r>
          </a:p>
        </p:txBody>
      </p:sp>
      <p:sp>
        <p:nvSpPr>
          <p:cNvPr id="10" name="Oval 9"/>
          <p:cNvSpPr/>
          <p:nvPr/>
        </p:nvSpPr>
        <p:spPr>
          <a:xfrm>
            <a:off x="2895600" y="5181600"/>
            <a:ext cx="3276600" cy="6858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chemeClr val="bg1"/>
                </a:solidFill>
              </a:rPr>
              <a:t>Computing Order of Growth of Algorithms</a:t>
            </a:r>
          </a:p>
        </p:txBody>
      </p:sp>
      <p:sp>
        <p:nvSpPr>
          <p:cNvPr id="11" name="Oval 10"/>
          <p:cNvSpPr/>
          <p:nvPr/>
        </p:nvSpPr>
        <p:spPr>
          <a:xfrm>
            <a:off x="533400" y="4419600"/>
            <a:ext cx="2743200" cy="9144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chemeClr val="bg1"/>
                </a:solidFill>
              </a:rPr>
              <a:t>Measuring Time Complexity</a:t>
            </a:r>
            <a:endParaRPr lang="en-US" b="1" dirty="0">
              <a:solidFill>
                <a:schemeClr val="bg1"/>
              </a:solidFill>
            </a:endParaRPr>
          </a:p>
        </p:txBody>
      </p:sp>
      <p:sp>
        <p:nvSpPr>
          <p:cNvPr id="12" name="Oval 11"/>
          <p:cNvSpPr/>
          <p:nvPr/>
        </p:nvSpPr>
        <p:spPr>
          <a:xfrm>
            <a:off x="685800" y="2514600"/>
            <a:ext cx="2590800" cy="762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b="1" dirty="0" smtClean="0">
                <a:solidFill>
                  <a:schemeClr val="bg1"/>
                </a:solidFill>
              </a:rPr>
              <a:t>Measuring Space Complexity</a:t>
            </a:r>
            <a:endParaRPr lang="en-US" b="1" dirty="0">
              <a:solidFill>
                <a:schemeClr val="bg1"/>
              </a:solidFill>
            </a:endParaRPr>
          </a:p>
        </p:txBody>
      </p:sp>
      <p:cxnSp>
        <p:nvCxnSpPr>
          <p:cNvPr id="14" name="Straight Arrow Connector 13"/>
          <p:cNvCxnSpPr/>
          <p:nvPr/>
        </p:nvCxnSpPr>
        <p:spPr>
          <a:xfrm>
            <a:off x="2895600" y="3200400"/>
            <a:ext cx="6096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6" name="Straight Arrow Connector 15"/>
          <p:cNvCxnSpPr>
            <a:endCxn id="4" idx="0"/>
          </p:cNvCxnSpPr>
          <p:nvPr/>
        </p:nvCxnSpPr>
        <p:spPr>
          <a:xfrm rot="5400000">
            <a:off x="4076700" y="3086100"/>
            <a:ext cx="685800"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18" name="Straight Arrow Connector 17"/>
          <p:cNvCxnSpPr>
            <a:stCxn id="6" idx="3"/>
          </p:cNvCxnSpPr>
          <p:nvPr/>
        </p:nvCxnSpPr>
        <p:spPr>
          <a:xfrm rot="5400000">
            <a:off x="5675151" y="3063617"/>
            <a:ext cx="405233" cy="630333"/>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0" name="Straight Arrow Connector 19"/>
          <p:cNvCxnSpPr/>
          <p:nvPr/>
        </p:nvCxnSpPr>
        <p:spPr>
          <a:xfrm flipV="1">
            <a:off x="2362200" y="4114800"/>
            <a:ext cx="6858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2" name="Straight Arrow Connector 21"/>
          <p:cNvCxnSpPr/>
          <p:nvPr/>
        </p:nvCxnSpPr>
        <p:spPr>
          <a:xfrm rot="5400000" flipH="1" flipV="1">
            <a:off x="4114800" y="4724400"/>
            <a:ext cx="762000" cy="1588"/>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cxnSp>
        <p:nvCxnSpPr>
          <p:cNvPr id="24" name="Straight Arrow Connector 23"/>
          <p:cNvCxnSpPr/>
          <p:nvPr/>
        </p:nvCxnSpPr>
        <p:spPr>
          <a:xfrm rot="10800000">
            <a:off x="5867400" y="4114800"/>
            <a:ext cx="762000" cy="304800"/>
          </a:xfrm>
          <a:prstGeom prst="straightConnector1">
            <a:avLst/>
          </a:prstGeom>
          <a:ln>
            <a:tailEnd type="arrow"/>
          </a:ln>
        </p:spPr>
        <p:style>
          <a:lnRef idx="3">
            <a:schemeClr val="dk1"/>
          </a:lnRef>
          <a:fillRef idx="0">
            <a:schemeClr val="dk1"/>
          </a:fillRef>
          <a:effectRef idx="2">
            <a:schemeClr val="dk1"/>
          </a:effectRef>
          <a:fontRef idx="minor">
            <a:schemeClr val="tx1"/>
          </a:fontRef>
        </p:style>
      </p:cxn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Algorithm Analysis</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The efficiency of an algorithm is decided by measuring the performance of an algorithm.</a:t>
            </a:r>
          </a:p>
          <a:p>
            <a:pPr algn="just">
              <a:buNone/>
            </a:pPr>
            <a:r>
              <a:rPr lang="en-US" sz="2800" dirty="0" smtClean="0"/>
              <a:t>We can measure the performance of an  algorithm by computing two factors :-</a:t>
            </a:r>
          </a:p>
          <a:p>
            <a:pPr marL="514350" indent="-514350" algn="just">
              <a:buAutoNum type="arabicParenR"/>
            </a:pPr>
            <a:r>
              <a:rPr lang="en-US" sz="2800" dirty="0" smtClean="0"/>
              <a:t>Time Complexity</a:t>
            </a:r>
          </a:p>
          <a:p>
            <a:pPr marL="514350" indent="-514350" algn="just">
              <a:buAutoNum type="arabicParenR"/>
            </a:pPr>
            <a:r>
              <a:rPr lang="en-US" sz="2800" dirty="0" smtClean="0"/>
              <a:t>Space Complexity</a:t>
            </a:r>
            <a:endParaRPr 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Complexity</a:t>
            </a:r>
            <a:endParaRPr lang="en-US" dirty="0"/>
          </a:p>
        </p:txBody>
      </p:sp>
      <p:sp>
        <p:nvSpPr>
          <p:cNvPr id="3" name="Content Placeholder 2"/>
          <p:cNvSpPr>
            <a:spLocks noGrp="1"/>
          </p:cNvSpPr>
          <p:nvPr>
            <p:ph idx="1"/>
          </p:nvPr>
        </p:nvSpPr>
        <p:spPr/>
        <p:txBody>
          <a:bodyPr/>
          <a:lstStyle/>
          <a:p>
            <a:r>
              <a:rPr lang="en-US" dirty="0" smtClean="0"/>
              <a:t>It is the amount of memory used by the algorithm (including the input values to the algorithm) to execute and produce the result</a:t>
            </a:r>
            <a:r>
              <a:rPr lang="en-US" i="1" dirty="0" smtClean="0"/>
              <a:t>.</a:t>
            </a:r>
          </a:p>
          <a:p>
            <a:r>
              <a:rPr lang="en-US" dirty="0" smtClean="0"/>
              <a:t>There are 2 types of components that contribute to the Space complexity :-</a:t>
            </a:r>
          </a:p>
          <a:p>
            <a:pPr lvl="1"/>
            <a:r>
              <a:rPr lang="en-US" dirty="0" smtClean="0"/>
              <a:t>Fixed part</a:t>
            </a:r>
          </a:p>
          <a:p>
            <a:pPr lvl="1"/>
            <a:r>
              <a:rPr lang="en-US" dirty="0" smtClean="0"/>
              <a:t>Variable Part</a:t>
            </a:r>
          </a:p>
          <a:p>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Fixed Part Space Complexity </a:t>
            </a:r>
            <a:endParaRPr lang="en-US" dirty="0"/>
          </a:p>
        </p:txBody>
      </p:sp>
      <p:sp>
        <p:nvSpPr>
          <p:cNvPr id="3" name="Content Placeholder 2"/>
          <p:cNvSpPr>
            <a:spLocks noGrp="1"/>
          </p:cNvSpPr>
          <p:nvPr>
            <p:ph idx="1"/>
          </p:nvPr>
        </p:nvSpPr>
        <p:spPr/>
        <p:txBody>
          <a:bodyPr/>
          <a:lstStyle/>
          <a:p>
            <a:r>
              <a:rPr lang="en-US" sz="3600" dirty="0" smtClean="0"/>
              <a:t>It includes spaces for</a:t>
            </a:r>
          </a:p>
          <a:p>
            <a:pPr lvl="1"/>
            <a:r>
              <a:rPr lang="en-US" sz="3200" dirty="0" smtClean="0"/>
              <a:t>Instructions</a:t>
            </a:r>
          </a:p>
          <a:p>
            <a:pPr lvl="1"/>
            <a:r>
              <a:rPr lang="en-US" sz="3200" dirty="0" smtClean="0"/>
              <a:t>Variables</a:t>
            </a:r>
          </a:p>
          <a:p>
            <a:pPr lvl="1"/>
            <a:r>
              <a:rPr lang="en-US" sz="3200" dirty="0" smtClean="0"/>
              <a:t>Array Size</a:t>
            </a:r>
          </a:p>
          <a:p>
            <a:pPr lvl="1"/>
            <a:r>
              <a:rPr lang="en-US" sz="3200" dirty="0" smtClean="0"/>
              <a:t>Space for constants</a:t>
            </a:r>
            <a:endParaRPr lang="en-US" dirty="0" smtClean="0"/>
          </a:p>
          <a:p>
            <a:pPr lvl="1">
              <a:buNone/>
            </a:pPr>
            <a:endParaRPr lang="en-US" dirty="0" smtClean="0"/>
          </a:p>
          <a:p>
            <a:pPr lvl="1"/>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 Part Space Complexity </a:t>
            </a:r>
            <a:endParaRPr lang="en-US" dirty="0"/>
          </a:p>
        </p:txBody>
      </p:sp>
      <p:sp>
        <p:nvSpPr>
          <p:cNvPr id="3" name="Content Placeholder 2"/>
          <p:cNvSpPr>
            <a:spLocks noGrp="1"/>
          </p:cNvSpPr>
          <p:nvPr>
            <p:ph idx="1"/>
          </p:nvPr>
        </p:nvSpPr>
        <p:spPr/>
        <p:txBody>
          <a:bodyPr/>
          <a:lstStyle/>
          <a:p>
            <a:r>
              <a:rPr lang="en-US" dirty="0" smtClean="0"/>
              <a:t>The variables whose size is dependent upon the particular problem instance being solved.</a:t>
            </a:r>
          </a:p>
          <a:p>
            <a:r>
              <a:rPr lang="en-US" dirty="0" smtClean="0"/>
              <a:t>The control statements (for ,do ,while ) are used to solve such instance.</a:t>
            </a:r>
          </a:p>
          <a:p>
            <a:r>
              <a:rPr lang="en-US" dirty="0" smtClean="0"/>
              <a:t>Recursion stack for handling recursive call.</a:t>
            </a:r>
          </a:p>
          <a:p>
            <a:pPr>
              <a:buNone/>
            </a:pP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
            </a:r>
            <a:br>
              <a:rPr lang="en-US" dirty="0" smtClean="0"/>
            </a:br>
            <a:r>
              <a:rPr lang="en-US" dirty="0" smtClean="0"/>
              <a:t>Memory Usage while Execution</a:t>
            </a:r>
            <a:br>
              <a:rPr lang="en-US" dirty="0" smtClean="0"/>
            </a:br>
            <a:endParaRPr lang="en-US" dirty="0" smtClean="0"/>
          </a:p>
        </p:txBody>
      </p:sp>
      <p:sp>
        <p:nvSpPr>
          <p:cNvPr id="3" name="Content Placeholder 2"/>
          <p:cNvSpPr>
            <a:spLocks noGrp="1"/>
          </p:cNvSpPr>
          <p:nvPr>
            <p:ph idx="1"/>
          </p:nvPr>
        </p:nvSpPr>
        <p:spPr/>
        <p:txBody>
          <a:bodyPr/>
          <a:lstStyle/>
          <a:p>
            <a:pPr algn="just"/>
            <a:r>
              <a:rPr lang="en-US" sz="2800" b="1" dirty="0" smtClean="0"/>
              <a:t>Instruction Space :- </a:t>
            </a:r>
            <a:r>
              <a:rPr lang="en-US" sz="2800" dirty="0" smtClean="0"/>
              <a:t>It's the amount of memory used to save the compiled version of instructions.</a:t>
            </a:r>
          </a:p>
          <a:p>
            <a:pPr algn="just"/>
            <a:r>
              <a:rPr lang="en-US" sz="2800" b="1" dirty="0" smtClean="0"/>
              <a:t>Data Space</a:t>
            </a:r>
            <a:r>
              <a:rPr lang="en-US" sz="2800" dirty="0" smtClean="0"/>
              <a:t> :- Amount of space used by the variables and constants.</a:t>
            </a:r>
          </a:p>
          <a:p>
            <a:pPr>
              <a:buNone/>
            </a:pP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Usage while Execution</a:t>
            </a:r>
            <a:endParaRPr lang="en-US" dirty="0"/>
          </a:p>
        </p:txBody>
      </p:sp>
      <p:sp>
        <p:nvSpPr>
          <p:cNvPr id="3" name="Content Placeholder 2"/>
          <p:cNvSpPr>
            <a:spLocks noGrp="1"/>
          </p:cNvSpPr>
          <p:nvPr>
            <p:ph idx="1"/>
          </p:nvPr>
        </p:nvSpPr>
        <p:spPr/>
        <p:txBody>
          <a:bodyPr>
            <a:normAutofit/>
          </a:bodyPr>
          <a:lstStyle/>
          <a:p>
            <a:pPr algn="just"/>
            <a:r>
              <a:rPr lang="en-US" sz="2800" b="1" dirty="0" smtClean="0"/>
              <a:t>Environmental Stack :- </a:t>
            </a:r>
            <a:r>
              <a:rPr lang="en-US" sz="2800" dirty="0" smtClean="0"/>
              <a:t>Sometimes an algorithm(function) may be called inside another algorithm(function). In such a situation, the current variables are pushed onto the system stack, where they wait for further execution and then the call to the inside algorithm(function) is made</a:t>
            </a:r>
            <a:r>
              <a:rPr lang="en-US" dirty="0" smtClean="0"/>
              <a:t>.</a:t>
            </a:r>
          </a:p>
          <a:p>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Memory Usage while Execution</a:t>
            </a:r>
            <a:endParaRPr lang="en-US" dirty="0"/>
          </a:p>
        </p:txBody>
      </p:sp>
      <p:sp>
        <p:nvSpPr>
          <p:cNvPr id="3" name="Content Placeholder 2"/>
          <p:cNvSpPr>
            <a:spLocks noGrp="1"/>
          </p:cNvSpPr>
          <p:nvPr>
            <p:ph idx="1"/>
          </p:nvPr>
        </p:nvSpPr>
        <p:spPr/>
        <p:txBody>
          <a:bodyPr>
            <a:normAutofit/>
          </a:bodyPr>
          <a:lstStyle/>
          <a:p>
            <a:pPr algn="just"/>
            <a:r>
              <a:rPr lang="en-US" sz="2800" dirty="0" smtClean="0"/>
              <a:t>For example, If a function A() calls function B() inside it, then all the variables of the function A() will get stored on the system stack temporarily, while the function B() is called and executed inside the function A().</a:t>
            </a:r>
          </a:p>
          <a:p>
            <a:pPr>
              <a:buNone/>
            </a:pPr>
            <a:endParaRPr lang="en-US" dirty="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Space Complexity</a:t>
            </a:r>
            <a:endParaRPr lang="en-US" dirty="0"/>
          </a:p>
        </p:txBody>
      </p:sp>
      <p:sp>
        <p:nvSpPr>
          <p:cNvPr id="3" name="Content Placeholder 2"/>
          <p:cNvSpPr>
            <a:spLocks noGrp="1"/>
          </p:cNvSpPr>
          <p:nvPr>
            <p:ph idx="1"/>
          </p:nvPr>
        </p:nvSpPr>
        <p:spPr/>
        <p:txBody>
          <a:bodyPr/>
          <a:lstStyle/>
          <a:p>
            <a:pPr algn="just"/>
            <a:r>
              <a:rPr lang="en-US" sz="2800" dirty="0" smtClean="0"/>
              <a:t>But while calculating the </a:t>
            </a:r>
            <a:r>
              <a:rPr lang="en-US" sz="2800" b="1" dirty="0" smtClean="0"/>
              <a:t>Space Complexity</a:t>
            </a:r>
            <a:r>
              <a:rPr lang="en-US" sz="2800" dirty="0" smtClean="0"/>
              <a:t> of any algorithm, we usually consider only </a:t>
            </a:r>
            <a:r>
              <a:rPr lang="en-US" sz="2800" b="1" dirty="0" smtClean="0"/>
              <a:t>Data Space</a:t>
            </a:r>
            <a:r>
              <a:rPr lang="en-US" sz="2800" dirty="0" smtClean="0"/>
              <a:t> and we neglect the </a:t>
            </a:r>
            <a:r>
              <a:rPr lang="en-US" sz="2800" b="1" dirty="0" smtClean="0"/>
              <a:t>Instruction Space</a:t>
            </a:r>
            <a:r>
              <a:rPr lang="en-US" sz="2800" dirty="0" smtClean="0"/>
              <a:t> and </a:t>
            </a:r>
            <a:r>
              <a:rPr lang="en-US" sz="2800" b="1" dirty="0" smtClean="0"/>
              <a:t>Environmental Stack</a:t>
            </a:r>
            <a:r>
              <a:rPr lang="en-US" sz="2800" dirty="0" smtClean="0"/>
              <a:t>.</a:t>
            </a:r>
          </a:p>
          <a:p>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Space Complexity</a:t>
            </a:r>
            <a:endParaRPr lang="en-US" dirty="0"/>
          </a:p>
        </p:txBody>
      </p:sp>
      <p:sp>
        <p:nvSpPr>
          <p:cNvPr id="3" name="Content Placeholder 2"/>
          <p:cNvSpPr>
            <a:spLocks noGrp="1"/>
          </p:cNvSpPr>
          <p:nvPr>
            <p:ph idx="1"/>
          </p:nvPr>
        </p:nvSpPr>
        <p:spPr/>
        <p:txBody>
          <a:bodyPr/>
          <a:lstStyle/>
          <a:p>
            <a:pPr>
              <a:buNone/>
            </a:pPr>
            <a:r>
              <a:rPr lang="pl-PL" dirty="0" smtClean="0"/>
              <a:t>{</a:t>
            </a:r>
            <a:endParaRPr lang="en-US" dirty="0" smtClean="0"/>
          </a:p>
          <a:p>
            <a:pPr>
              <a:buNone/>
            </a:pPr>
            <a:r>
              <a:rPr lang="pl-PL" dirty="0" smtClean="0"/>
              <a:t> int z = a + b + c;</a:t>
            </a:r>
            <a:endParaRPr lang="en-US" dirty="0" smtClean="0"/>
          </a:p>
          <a:p>
            <a:pPr>
              <a:buNone/>
            </a:pPr>
            <a:r>
              <a:rPr lang="pl-PL" dirty="0" smtClean="0"/>
              <a:t> return(z);</a:t>
            </a:r>
            <a:endParaRPr lang="en-US" dirty="0" smtClean="0"/>
          </a:p>
          <a:p>
            <a:pPr>
              <a:buNone/>
            </a:pPr>
            <a:r>
              <a:rPr lang="pl-PL" dirty="0" smtClean="0"/>
              <a:t> }</a:t>
            </a:r>
            <a:endParaRPr lang="en-US" dirty="0"/>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a:t>
            </a: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In the above expression, variables a, b, c and z are all integer types, hence they will take up 4 bytes each, so total memory requirement will be (4(4) + 4) = 20 bytes, this additional 4 bytes is for </a:t>
            </a:r>
            <a:r>
              <a:rPr lang="en-US" sz="2800" b="1" dirty="0" smtClean="0"/>
              <a:t>return value</a:t>
            </a:r>
            <a:r>
              <a:rPr lang="en-US" sz="2800" dirty="0" smtClean="0"/>
              <a:t>. And because this space requirement is fixed for the above example, hence it is called </a:t>
            </a:r>
            <a:r>
              <a:rPr lang="en-US" sz="2800" b="1" dirty="0" smtClean="0"/>
              <a:t>Constant Space Complexity</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Calculate Space Complexity</a:t>
            </a:r>
            <a:endParaRPr lang="en-US" dirty="0"/>
          </a:p>
        </p:txBody>
      </p:sp>
      <p:sp>
        <p:nvSpPr>
          <p:cNvPr id="3" name="Content Placeholder 2"/>
          <p:cNvSpPr>
            <a:spLocks noGrp="1"/>
          </p:cNvSpPr>
          <p:nvPr>
            <p:ph idx="1"/>
          </p:nvPr>
        </p:nvSpPr>
        <p:spPr>
          <a:xfrm>
            <a:off x="457200" y="1722437"/>
            <a:ext cx="8229600" cy="4525963"/>
          </a:xfrm>
        </p:spPr>
        <p:txBody>
          <a:bodyPr>
            <a:noAutofit/>
          </a:bodyPr>
          <a:lstStyle/>
          <a:p>
            <a:pPr algn="just">
              <a:buNone/>
            </a:pPr>
            <a:r>
              <a:rPr lang="en-US" sz="2800" dirty="0" err="1" smtClean="0"/>
              <a:t>int</a:t>
            </a:r>
            <a:r>
              <a:rPr lang="en-US" sz="2800" dirty="0" smtClean="0"/>
              <a:t> sum(</a:t>
            </a:r>
            <a:r>
              <a:rPr lang="en-US" sz="2800" dirty="0" err="1" smtClean="0"/>
              <a:t>int</a:t>
            </a:r>
            <a:r>
              <a:rPr lang="en-US" sz="2800" dirty="0" smtClean="0"/>
              <a:t> a[], </a:t>
            </a:r>
            <a:r>
              <a:rPr lang="en-US" sz="2800" dirty="0" err="1" smtClean="0"/>
              <a:t>int</a:t>
            </a:r>
            <a:r>
              <a:rPr lang="en-US" sz="2800" dirty="0" smtClean="0"/>
              <a:t> n)</a:t>
            </a:r>
          </a:p>
          <a:p>
            <a:pPr algn="just">
              <a:buNone/>
            </a:pPr>
            <a:r>
              <a:rPr lang="en-US" sz="2800" dirty="0" smtClean="0"/>
              <a:t> {</a:t>
            </a:r>
          </a:p>
          <a:p>
            <a:pPr algn="just">
              <a:buNone/>
            </a:pPr>
            <a:r>
              <a:rPr lang="en-US" sz="2800" dirty="0" smtClean="0"/>
              <a:t> </a:t>
            </a:r>
            <a:r>
              <a:rPr lang="en-US" sz="2800" dirty="0" err="1" smtClean="0"/>
              <a:t>int</a:t>
            </a:r>
            <a:r>
              <a:rPr lang="en-US" sz="2800" dirty="0" smtClean="0"/>
              <a:t>   x = 0; // 4 bytes for x</a:t>
            </a:r>
          </a:p>
          <a:p>
            <a:pPr algn="just">
              <a:buNone/>
            </a:pPr>
            <a:r>
              <a:rPr lang="en-US" sz="2800" dirty="0" smtClean="0"/>
              <a:t>for(</a:t>
            </a:r>
            <a:r>
              <a:rPr lang="en-US" sz="2800" dirty="0" err="1" smtClean="0"/>
              <a:t>int</a:t>
            </a:r>
            <a:r>
              <a:rPr lang="en-US" sz="2800" dirty="0" smtClean="0"/>
              <a:t>  </a:t>
            </a:r>
            <a:r>
              <a:rPr lang="en-US" sz="2800" dirty="0" err="1" smtClean="0"/>
              <a:t>i</a:t>
            </a:r>
            <a:r>
              <a:rPr lang="en-US" sz="2800" dirty="0" smtClean="0"/>
              <a:t> = 0; </a:t>
            </a:r>
            <a:r>
              <a:rPr lang="en-US" sz="2800" dirty="0" err="1" smtClean="0"/>
              <a:t>i</a:t>
            </a:r>
            <a:r>
              <a:rPr lang="en-US" sz="2800" dirty="0" smtClean="0"/>
              <a:t> &lt; n; </a:t>
            </a:r>
            <a:r>
              <a:rPr lang="en-US" sz="2800" dirty="0" err="1" smtClean="0"/>
              <a:t>i</a:t>
            </a:r>
            <a:r>
              <a:rPr lang="en-US" sz="2800" dirty="0" smtClean="0"/>
              <a:t>++) // 4 bytes for </a:t>
            </a:r>
            <a:r>
              <a:rPr lang="en-US" sz="2800" dirty="0" err="1" smtClean="0"/>
              <a:t>i</a:t>
            </a:r>
            <a:endParaRPr lang="en-US" sz="2800" dirty="0" smtClean="0"/>
          </a:p>
          <a:p>
            <a:pPr algn="just">
              <a:buNone/>
            </a:pPr>
            <a:r>
              <a:rPr lang="en-US" sz="2800" dirty="0" smtClean="0"/>
              <a:t>{ </a:t>
            </a:r>
          </a:p>
          <a:p>
            <a:pPr algn="just">
              <a:buNone/>
            </a:pPr>
            <a:r>
              <a:rPr lang="en-US" sz="2800" dirty="0" smtClean="0"/>
              <a:t>x = x + a[</a:t>
            </a:r>
            <a:r>
              <a:rPr lang="en-US" sz="2800" dirty="0" err="1" smtClean="0"/>
              <a:t>i</a:t>
            </a:r>
            <a:r>
              <a:rPr lang="en-US" sz="2800" dirty="0" smtClean="0"/>
              <a:t>]; </a:t>
            </a:r>
          </a:p>
          <a:p>
            <a:pPr algn="just">
              <a:buNone/>
            </a:pPr>
            <a:r>
              <a:rPr lang="en-US" sz="2800" dirty="0" smtClean="0"/>
              <a:t>}</a:t>
            </a:r>
          </a:p>
          <a:p>
            <a:pPr algn="just">
              <a:buNone/>
            </a:pPr>
            <a:r>
              <a:rPr lang="en-US" sz="2800" dirty="0" smtClean="0"/>
              <a:t> return(x); </a:t>
            </a:r>
          </a:p>
          <a:p>
            <a:pPr algn="just">
              <a:buNone/>
            </a:pPr>
            <a:r>
              <a:rPr lang="en-US" sz="2800" dirty="0" smtClean="0"/>
              <a:t>}</a:t>
            </a:r>
            <a:endParaRPr lang="en-US" sz="2800"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a:t>
            </a:r>
            <a:endParaRPr lang="en-US" dirty="0"/>
          </a:p>
        </p:txBody>
      </p:sp>
      <p:sp>
        <p:nvSpPr>
          <p:cNvPr id="3" name="Content Placeholder 2"/>
          <p:cNvSpPr>
            <a:spLocks noGrp="1"/>
          </p:cNvSpPr>
          <p:nvPr>
            <p:ph idx="1"/>
          </p:nvPr>
        </p:nvSpPr>
        <p:spPr/>
        <p:txBody>
          <a:bodyPr/>
          <a:lstStyle/>
          <a:p>
            <a:pPr algn="just">
              <a:buNone/>
            </a:pPr>
            <a:r>
              <a:rPr lang="en-US" sz="2800" dirty="0" smtClean="0"/>
              <a:t>In the above code, 4*n bytes of space is required for the array a[] elements.</a:t>
            </a:r>
          </a:p>
          <a:p>
            <a:pPr algn="just">
              <a:buNone/>
            </a:pPr>
            <a:r>
              <a:rPr lang="en-US" sz="2800" dirty="0" smtClean="0"/>
              <a:t>4 bytes each for x, n, </a:t>
            </a:r>
            <a:r>
              <a:rPr lang="en-US" sz="2800" dirty="0" err="1" smtClean="0"/>
              <a:t>i</a:t>
            </a:r>
            <a:r>
              <a:rPr lang="en-US" sz="2800" dirty="0" smtClean="0"/>
              <a:t> and the return value.</a:t>
            </a:r>
          </a:p>
          <a:p>
            <a:pPr algn="just">
              <a:buNone/>
            </a:pPr>
            <a:r>
              <a:rPr lang="en-US" sz="2800" dirty="0" smtClean="0"/>
              <a:t>Hence the total memory requirement will be (4n + 16), which is increasing linearly with the increase in the input value n, hence it is called as </a:t>
            </a:r>
            <a:r>
              <a:rPr lang="en-US" sz="2800" b="1" dirty="0" smtClean="0"/>
              <a:t>Linear Space Complexity.</a:t>
            </a:r>
            <a:endParaRPr lang="en-US" sz="2800" dirty="0" smtClean="0"/>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900" dirty="0" smtClean="0"/>
              <a:t>Time Complexity</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sz="2800" dirty="0" smtClean="0"/>
              <a:t>It’s a function describing the amount of time required to run an algorithm in terms of the size of the input. </a:t>
            </a:r>
          </a:p>
          <a:p>
            <a:pPr algn="just"/>
            <a:r>
              <a:rPr lang="en-US" sz="2800" dirty="0" smtClean="0"/>
              <a:t>"Time" can mean the number of memory accesses performed, the number of comparisons between integers, the number of times some inner loop is executed, or some other natural unit related to the amount of real time the algorithm will take.</a:t>
            </a:r>
          </a:p>
          <a:p>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For(</a:t>
            </a:r>
            <a:r>
              <a:rPr lang="en-US" dirty="0" err="1" smtClean="0"/>
              <a:t>i</a:t>
            </a:r>
            <a:r>
              <a:rPr lang="en-US" dirty="0" smtClean="0"/>
              <a:t>=1;i&lt;=</a:t>
            </a:r>
            <a:r>
              <a:rPr lang="en-US" dirty="0" err="1" smtClean="0"/>
              <a:t>n;i</a:t>
            </a:r>
            <a:r>
              <a:rPr lang="en-US" dirty="0" smtClean="0"/>
              <a:t>++)</a:t>
            </a:r>
          </a:p>
          <a:p>
            <a:r>
              <a:rPr lang="en-US" dirty="0" smtClean="0"/>
              <a:t>{</a:t>
            </a:r>
          </a:p>
          <a:p>
            <a:pPr lvl="1">
              <a:buNone/>
            </a:pPr>
            <a:r>
              <a:rPr lang="en-US" dirty="0" smtClean="0"/>
              <a:t>For(j=1;j&lt;=</a:t>
            </a:r>
            <a:r>
              <a:rPr lang="en-US" dirty="0" err="1" smtClean="0"/>
              <a:t>n;j</a:t>
            </a:r>
            <a:r>
              <a:rPr lang="en-US" dirty="0" smtClean="0"/>
              <a:t>++)</a:t>
            </a:r>
          </a:p>
          <a:p>
            <a:pPr lvl="1">
              <a:buNone/>
            </a:pPr>
            <a:r>
              <a:rPr lang="en-US" dirty="0" smtClean="0"/>
              <a:t>	</a:t>
            </a:r>
            <a:r>
              <a:rPr lang="en-US" dirty="0" err="1" smtClean="0"/>
              <a:t>cout</a:t>
            </a:r>
            <a:r>
              <a:rPr lang="en-US" dirty="0" smtClean="0"/>
              <a:t>&lt;&lt;</a:t>
            </a:r>
            <a:r>
              <a:rPr lang="en-US" dirty="0" err="1" smtClean="0"/>
              <a:t>cs</a:t>
            </a:r>
            <a:r>
              <a:rPr lang="en-US" smtClean="0"/>
              <a:t>;</a:t>
            </a:r>
            <a:endParaRPr lang="en-US" dirty="0" smtClean="0"/>
          </a:p>
          <a:p>
            <a:r>
              <a:rPr lang="en-US" dirty="0" smtClean="0"/>
              <a: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smtClean="0"/>
              <a:t/>
            </a:r>
            <a:br>
              <a:rPr lang="en-US" sz="4900" dirty="0" smtClean="0"/>
            </a:br>
            <a:r>
              <a:rPr lang="en-US" sz="4900" dirty="0" smtClean="0"/>
              <a:t>Asymptotic Notations</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lgn="just"/>
            <a:r>
              <a:rPr lang="en-US" sz="2800" dirty="0" smtClean="0"/>
              <a:t>Execution time of an algorithm depends on the instruction set, processor speed, disk I/O speed, etc. Hence, we estimate the efficiency of an algorithm asymptotically.</a:t>
            </a:r>
          </a:p>
          <a:p>
            <a:pPr algn="just"/>
            <a:r>
              <a:rPr lang="en-US" sz="2800" dirty="0" smtClean="0"/>
              <a:t>Time function of an algorithm is represented by </a:t>
            </a:r>
            <a:r>
              <a:rPr lang="en-US" sz="2800" b="1" dirty="0" smtClean="0"/>
              <a:t>T(n)</a:t>
            </a:r>
            <a:r>
              <a:rPr lang="en-US" sz="2800" dirty="0" smtClean="0"/>
              <a:t>, where </a:t>
            </a:r>
            <a:r>
              <a:rPr lang="en-US" sz="2800" b="1" dirty="0" smtClean="0"/>
              <a:t>n</a:t>
            </a:r>
            <a:r>
              <a:rPr lang="en-US" sz="2800" dirty="0" smtClean="0"/>
              <a:t> is the input size.</a:t>
            </a:r>
          </a:p>
          <a:p>
            <a:endParaRPr lang="en-US" dirty="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Different types of Asymptotic notations</a:t>
            </a:r>
            <a:endParaRPr lang="en-US" dirty="0"/>
          </a:p>
        </p:txBody>
      </p:sp>
      <p:sp>
        <p:nvSpPr>
          <p:cNvPr id="3" name="Content Placeholder 2"/>
          <p:cNvSpPr>
            <a:spLocks noGrp="1"/>
          </p:cNvSpPr>
          <p:nvPr>
            <p:ph idx="1"/>
          </p:nvPr>
        </p:nvSpPr>
        <p:spPr/>
        <p:txBody>
          <a:bodyPr/>
          <a:lstStyle/>
          <a:p>
            <a:pPr>
              <a:buNone/>
            </a:pPr>
            <a:r>
              <a:rPr lang="en-US" b="1" dirty="0" smtClean="0"/>
              <a:t>O</a:t>
            </a:r>
            <a:r>
              <a:rPr lang="en-US" dirty="0" smtClean="0"/>
              <a:t> − Big Oh</a:t>
            </a:r>
          </a:p>
          <a:p>
            <a:pPr>
              <a:buNone/>
            </a:pPr>
            <a:r>
              <a:rPr lang="el-GR" b="1" dirty="0" smtClean="0"/>
              <a:t>Ω</a:t>
            </a:r>
            <a:r>
              <a:rPr lang="el-GR" dirty="0" smtClean="0"/>
              <a:t> − </a:t>
            </a:r>
            <a:r>
              <a:rPr lang="en-US" dirty="0" smtClean="0"/>
              <a:t>Big omega</a:t>
            </a:r>
          </a:p>
          <a:p>
            <a:pPr>
              <a:buNone/>
            </a:pPr>
            <a:r>
              <a:rPr lang="el-GR" b="1" dirty="0" smtClean="0"/>
              <a:t>θ</a:t>
            </a:r>
            <a:r>
              <a:rPr lang="el-GR" dirty="0" smtClean="0"/>
              <a:t> − </a:t>
            </a:r>
            <a:r>
              <a:rPr lang="en-US" dirty="0" smtClean="0"/>
              <a:t>Big theta</a:t>
            </a:r>
          </a:p>
          <a:p>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900" dirty="0" smtClean="0"/>
              <a:t>O: Asymptotic Upper Bound</a:t>
            </a:r>
            <a:r>
              <a:rPr lang="en-US" dirty="0" smtClean="0"/>
              <a:t/>
            </a:r>
            <a:br>
              <a:rPr lang="en-US" dirty="0" smtClean="0"/>
            </a:br>
            <a:endParaRPr lang="en-US" dirty="0"/>
          </a:p>
        </p:txBody>
      </p:sp>
      <p:sp>
        <p:nvSpPr>
          <p:cNvPr id="3" name="Content Placeholder 2"/>
          <p:cNvSpPr>
            <a:spLocks noGrp="1"/>
          </p:cNvSpPr>
          <p:nvPr>
            <p:ph idx="1"/>
          </p:nvPr>
        </p:nvSpPr>
        <p:spPr/>
        <p:txBody>
          <a:bodyPr>
            <a:normAutofit fontScale="85000" lnSpcReduction="10000"/>
          </a:bodyPr>
          <a:lstStyle/>
          <a:p>
            <a:pPr algn="just"/>
            <a:r>
              <a:rPr lang="en-US" dirty="0" smtClean="0"/>
              <a:t>‘</a:t>
            </a:r>
            <a:r>
              <a:rPr lang="en-US" sz="3500" dirty="0" smtClean="0"/>
              <a:t>O’ (Big Oh) is the most commonly used notation.</a:t>
            </a:r>
          </a:p>
          <a:p>
            <a:pPr algn="just"/>
            <a:r>
              <a:rPr lang="en-US" sz="3500" dirty="0" smtClean="0"/>
              <a:t> A function </a:t>
            </a:r>
            <a:r>
              <a:rPr lang="en-US" sz="3500" b="1" i="1" dirty="0" smtClean="0"/>
              <a:t>f(n)</a:t>
            </a:r>
            <a:r>
              <a:rPr lang="en-US" sz="3500" dirty="0" smtClean="0"/>
              <a:t> can be represented is the order of </a:t>
            </a:r>
            <a:r>
              <a:rPr lang="en-US" sz="3500" b="1" i="1" dirty="0" smtClean="0"/>
              <a:t>g(n)</a:t>
            </a:r>
            <a:r>
              <a:rPr lang="en-US" sz="3500" dirty="0" smtClean="0"/>
              <a:t> that is </a:t>
            </a:r>
            <a:r>
              <a:rPr lang="en-US" sz="3500" b="1" i="1" dirty="0" smtClean="0"/>
              <a:t>O(g(n))</a:t>
            </a:r>
            <a:r>
              <a:rPr lang="en-US" sz="3500" dirty="0" smtClean="0"/>
              <a:t>, if there exists a value of positive integer </a:t>
            </a:r>
            <a:r>
              <a:rPr lang="en-US" sz="3500" b="1" dirty="0" smtClean="0"/>
              <a:t>n</a:t>
            </a:r>
            <a:r>
              <a:rPr lang="en-US" sz="3500" dirty="0" smtClean="0"/>
              <a:t> as </a:t>
            </a:r>
            <a:r>
              <a:rPr lang="en-US" sz="3500" b="1" dirty="0" smtClean="0"/>
              <a:t>n</a:t>
            </a:r>
            <a:r>
              <a:rPr lang="en-US" sz="3500" b="1" baseline="-25000" dirty="0" smtClean="0"/>
              <a:t>0</a:t>
            </a:r>
            <a:r>
              <a:rPr lang="en-US" sz="3500" dirty="0" smtClean="0"/>
              <a:t> and a positive constant </a:t>
            </a:r>
            <a:r>
              <a:rPr lang="en-US" sz="3500" b="1" dirty="0" smtClean="0"/>
              <a:t>c</a:t>
            </a:r>
            <a:r>
              <a:rPr lang="en-US" sz="3500" dirty="0" smtClean="0"/>
              <a:t> such that −</a:t>
            </a:r>
          </a:p>
          <a:p>
            <a:pPr algn="just"/>
            <a:r>
              <a:rPr lang="en-US" sz="3500" dirty="0" smtClean="0"/>
              <a:t>f(n)⩽c*g(n)  for n&gt;n0 in all case</a:t>
            </a:r>
          </a:p>
          <a:p>
            <a:pPr algn="just"/>
            <a:r>
              <a:rPr lang="en-US" sz="3500" dirty="0" smtClean="0"/>
              <a:t>Hence, function </a:t>
            </a:r>
            <a:r>
              <a:rPr lang="en-US" sz="3500" b="1" i="1" dirty="0" smtClean="0"/>
              <a:t>g(n)</a:t>
            </a:r>
            <a:r>
              <a:rPr lang="en-US" sz="3500" dirty="0" smtClean="0"/>
              <a:t> is an upper bound for function </a:t>
            </a:r>
            <a:r>
              <a:rPr lang="en-US" sz="3500" b="1" i="1" dirty="0" smtClean="0"/>
              <a:t>f(n)</a:t>
            </a:r>
            <a:r>
              <a:rPr lang="en-US" sz="3500" dirty="0" smtClean="0"/>
              <a:t>, as </a:t>
            </a:r>
            <a:r>
              <a:rPr lang="en-US" sz="3500" b="1" i="1" dirty="0" smtClean="0"/>
              <a:t>g(n)</a:t>
            </a:r>
            <a:r>
              <a:rPr lang="en-US" sz="3500" dirty="0" smtClean="0"/>
              <a:t> grows faster than </a:t>
            </a:r>
            <a:r>
              <a:rPr lang="en-US" sz="3500" b="1" i="1" dirty="0" smtClean="0"/>
              <a:t>f(n)</a:t>
            </a:r>
            <a:r>
              <a:rPr lang="en-US" sz="3500" dirty="0" smtClean="0"/>
              <a:t>.</a:t>
            </a:r>
          </a:p>
          <a:p>
            <a:pPr>
              <a:buNone/>
            </a:pPr>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900" dirty="0" smtClean="0"/>
              <a:t/>
            </a:r>
            <a:br>
              <a:rPr lang="en-US" sz="4900" dirty="0" smtClean="0"/>
            </a:br>
            <a:r>
              <a:rPr lang="en-US" sz="4900" dirty="0" smtClean="0"/>
              <a:t/>
            </a:r>
            <a:br>
              <a:rPr lang="en-US" sz="4900" dirty="0" smtClean="0"/>
            </a:br>
            <a:r>
              <a:rPr lang="en-US" sz="4900" dirty="0" smtClean="0"/>
              <a:t>Ω: Asymptotic Lower Bound</a:t>
            </a:r>
            <a:br>
              <a:rPr lang="en-US" sz="4900" dirty="0" smtClean="0"/>
            </a:br>
            <a:r>
              <a:rPr lang="en-US" sz="4900" dirty="0" smtClean="0"/>
              <a:t/>
            </a:r>
            <a:br>
              <a:rPr lang="en-US" sz="4900" dirty="0" smtClean="0"/>
            </a:br>
            <a:endParaRPr lang="en-US" sz="4900" dirty="0" smtClean="0"/>
          </a:p>
        </p:txBody>
      </p:sp>
      <p:sp>
        <p:nvSpPr>
          <p:cNvPr id="3" name="Content Placeholder 2"/>
          <p:cNvSpPr>
            <a:spLocks noGrp="1"/>
          </p:cNvSpPr>
          <p:nvPr>
            <p:ph idx="1"/>
          </p:nvPr>
        </p:nvSpPr>
        <p:spPr/>
        <p:txBody>
          <a:bodyPr>
            <a:normAutofit/>
          </a:bodyPr>
          <a:lstStyle/>
          <a:p>
            <a:pPr algn="just"/>
            <a:r>
              <a:rPr lang="en-US" dirty="0" smtClean="0"/>
              <a:t>We say that f(n)=Ω(g(n))f(n)=Ω(g(n)) when there exists constant </a:t>
            </a:r>
            <a:r>
              <a:rPr lang="en-US" b="1" dirty="0" smtClean="0"/>
              <a:t>c</a:t>
            </a:r>
            <a:r>
              <a:rPr lang="en-US" dirty="0" smtClean="0"/>
              <a:t> that f(n)⩾c*g(n) for all sufficiently large value of </a:t>
            </a:r>
            <a:r>
              <a:rPr lang="en-US" b="1" dirty="0" smtClean="0"/>
              <a:t>n</a:t>
            </a:r>
            <a:r>
              <a:rPr lang="en-US" dirty="0" smtClean="0"/>
              <a:t>. </a:t>
            </a:r>
          </a:p>
          <a:p>
            <a:pPr algn="just"/>
            <a:r>
              <a:rPr lang="en-US" dirty="0" smtClean="0"/>
              <a:t>Here </a:t>
            </a:r>
            <a:r>
              <a:rPr lang="en-US" b="1" dirty="0" smtClean="0"/>
              <a:t>n</a:t>
            </a:r>
            <a:r>
              <a:rPr lang="en-US" dirty="0" smtClean="0"/>
              <a:t> is a positive integer.</a:t>
            </a:r>
          </a:p>
          <a:p>
            <a:pPr algn="just"/>
            <a:r>
              <a:rPr lang="en-US" dirty="0" smtClean="0"/>
              <a:t> It means function </a:t>
            </a:r>
            <a:r>
              <a:rPr lang="en-US" b="1" i="1" dirty="0" smtClean="0"/>
              <a:t>g</a:t>
            </a:r>
            <a:r>
              <a:rPr lang="en-US" dirty="0" smtClean="0"/>
              <a:t> is a lower bound for function </a:t>
            </a:r>
            <a:r>
              <a:rPr lang="en-US" b="1" i="1" dirty="0" smtClean="0"/>
              <a:t>f</a:t>
            </a:r>
            <a:r>
              <a:rPr lang="en-US" dirty="0" smtClean="0"/>
              <a:t>; after a certain value of </a:t>
            </a:r>
            <a:r>
              <a:rPr lang="en-US" b="1" i="1" dirty="0" smtClean="0"/>
              <a:t>n, f</a:t>
            </a:r>
            <a:r>
              <a:rPr lang="en-US" dirty="0" smtClean="0"/>
              <a:t> will never go below </a:t>
            </a:r>
            <a:r>
              <a:rPr lang="en-US" b="1" i="1" dirty="0" smtClean="0"/>
              <a:t>g</a:t>
            </a:r>
            <a:r>
              <a:rPr lang="en-US" dirty="0" smtClean="0"/>
              <a:t>.</a:t>
            </a:r>
          </a:p>
          <a:p>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900" dirty="0" smtClean="0"/>
              <a:t>θ: Asymptotic Tight Bound</a:t>
            </a:r>
            <a:br>
              <a:rPr lang="en-US" sz="4900" dirty="0" smtClean="0"/>
            </a:br>
            <a:endParaRPr lang="en-US" sz="4900" dirty="0" smtClean="0"/>
          </a:p>
        </p:txBody>
      </p:sp>
      <p:sp>
        <p:nvSpPr>
          <p:cNvPr id="3" name="Content Placeholder 2"/>
          <p:cNvSpPr>
            <a:spLocks noGrp="1"/>
          </p:cNvSpPr>
          <p:nvPr>
            <p:ph idx="1"/>
          </p:nvPr>
        </p:nvSpPr>
        <p:spPr/>
        <p:txBody>
          <a:bodyPr>
            <a:normAutofit/>
          </a:bodyPr>
          <a:lstStyle/>
          <a:p>
            <a:pPr algn="just"/>
            <a:r>
              <a:rPr lang="en-US" sz="2800" dirty="0" smtClean="0"/>
              <a:t>We say that f(n)=θ(g(n))f(n)=θ(g(n)) when </a:t>
            </a:r>
          </a:p>
          <a:p>
            <a:pPr algn="just">
              <a:buNone/>
            </a:pPr>
            <a:r>
              <a:rPr lang="en-US" sz="2800" dirty="0" smtClean="0"/>
              <a:t>	there exist  constants </a:t>
            </a:r>
            <a:r>
              <a:rPr lang="en-US" sz="2800" b="1" dirty="0" smtClean="0"/>
              <a:t>c</a:t>
            </a:r>
            <a:r>
              <a:rPr lang="en-US" sz="2800" b="1" baseline="-25000" dirty="0" smtClean="0"/>
              <a:t>1 </a:t>
            </a:r>
            <a:r>
              <a:rPr lang="en-US" sz="2800" dirty="0" smtClean="0"/>
              <a:t>and </a:t>
            </a:r>
            <a:r>
              <a:rPr lang="en-US" sz="2800" b="1" dirty="0" smtClean="0"/>
              <a:t>C</a:t>
            </a:r>
            <a:r>
              <a:rPr lang="en-US" sz="2800" b="1" baseline="-25000" dirty="0" smtClean="0"/>
              <a:t>2  </a:t>
            </a:r>
            <a:r>
              <a:rPr lang="en-US" sz="2800" dirty="0" smtClean="0"/>
              <a:t> that </a:t>
            </a:r>
          </a:p>
          <a:p>
            <a:pPr algn="just">
              <a:buNone/>
            </a:pPr>
            <a:r>
              <a:rPr lang="en-US" sz="2800" dirty="0" smtClean="0"/>
              <a:t>c1.g(n)⩽f(n)⩽c2.g(n) for all sufficiently large value of </a:t>
            </a:r>
            <a:r>
              <a:rPr lang="en-US" sz="2800" b="1" dirty="0" smtClean="0"/>
              <a:t>n</a:t>
            </a:r>
            <a:r>
              <a:rPr lang="en-US" sz="2800" dirty="0" smtClean="0"/>
              <a:t>.</a:t>
            </a:r>
          </a:p>
          <a:p>
            <a:pPr algn="just"/>
            <a:r>
              <a:rPr lang="en-US" sz="2800" dirty="0" smtClean="0"/>
              <a:t> Here </a:t>
            </a:r>
            <a:r>
              <a:rPr lang="en-US" sz="2800" b="1" dirty="0" smtClean="0"/>
              <a:t>n</a:t>
            </a:r>
            <a:r>
              <a:rPr lang="en-US" sz="2800" dirty="0" smtClean="0"/>
              <a:t> is a positive integer.</a:t>
            </a:r>
          </a:p>
          <a:p>
            <a:pPr algn="just"/>
            <a:r>
              <a:rPr lang="en-US" sz="2800" dirty="0" smtClean="0"/>
              <a:t>This means function </a:t>
            </a:r>
            <a:r>
              <a:rPr lang="en-US" sz="2800" b="1" dirty="0" smtClean="0"/>
              <a:t>g</a:t>
            </a:r>
            <a:r>
              <a:rPr lang="en-US" sz="2800" dirty="0" smtClean="0"/>
              <a:t> is a tight bound for function </a:t>
            </a:r>
            <a:r>
              <a:rPr lang="en-US" sz="2800" b="1" dirty="0" smtClean="0"/>
              <a:t>f</a:t>
            </a:r>
            <a:r>
              <a:rPr lang="en-US" sz="2800" dirty="0" smtClean="0"/>
              <a:t>.</a:t>
            </a:r>
          </a:p>
          <a:p>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900" dirty="0" err="1" smtClean="0"/>
              <a:t>Apriori</a:t>
            </a:r>
            <a:r>
              <a:rPr lang="en-US" sz="4900" dirty="0" smtClean="0"/>
              <a:t> and </a:t>
            </a:r>
            <a:r>
              <a:rPr lang="en-US" sz="4900" dirty="0" err="1" smtClean="0"/>
              <a:t>Apostiari</a:t>
            </a:r>
            <a:r>
              <a:rPr lang="en-US" sz="4900" dirty="0" smtClean="0"/>
              <a:t> Analysis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sz="2800" dirty="0" err="1" smtClean="0"/>
              <a:t>Apriori</a:t>
            </a:r>
            <a:r>
              <a:rPr lang="en-US" sz="2800" dirty="0" smtClean="0"/>
              <a:t> analysis means, analysis is performed prior to running it on a specific system. This analysis is a stage where a function is defined using some theoretical model. Hence, we determine the time and space complexity of an algorithm by just looking at the algorithm rather than running it on a particular system with a different memory, processor, and compiler.</a:t>
            </a:r>
            <a:endParaRPr lang="en-US" sz="2800"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900" dirty="0" err="1" smtClean="0"/>
              <a:t>Apriori</a:t>
            </a:r>
            <a:r>
              <a:rPr lang="en-US" sz="4900" dirty="0" smtClean="0"/>
              <a:t> and </a:t>
            </a:r>
            <a:r>
              <a:rPr lang="en-US" sz="4900" dirty="0" err="1" smtClean="0"/>
              <a:t>Apostiari</a:t>
            </a:r>
            <a:r>
              <a:rPr lang="en-US" sz="4900" dirty="0" smtClean="0"/>
              <a:t> Analysis</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sz="2800" dirty="0" err="1" smtClean="0"/>
              <a:t>Apostiari</a:t>
            </a:r>
            <a:r>
              <a:rPr lang="en-US" sz="2800" dirty="0" smtClean="0"/>
              <a:t> analysis of an algorithm means we perform analysis of an algorithm only after running it on a system. It directly depends on the system and changes from system to system.</a:t>
            </a:r>
            <a:endParaRPr lang="en-US" sz="2800"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
            </a:r>
            <a:br>
              <a:rPr lang="en-US" dirty="0" smtClean="0"/>
            </a:br>
            <a:r>
              <a:rPr lang="en-US" sz="4900" dirty="0" smtClean="0"/>
              <a:t>Recurrence Relation</a:t>
            </a:r>
            <a:r>
              <a:rPr lang="en-US" dirty="0" smtClean="0"/>
              <a:t/>
            </a:r>
            <a:br>
              <a:rPr lang="en-US" dirty="0" smtClean="0"/>
            </a:br>
            <a:endParaRPr lang="en-US" dirty="0"/>
          </a:p>
        </p:txBody>
      </p:sp>
      <p:sp>
        <p:nvSpPr>
          <p:cNvPr id="3" name="Content Placeholder 2"/>
          <p:cNvSpPr>
            <a:spLocks noGrp="1"/>
          </p:cNvSpPr>
          <p:nvPr>
            <p:ph idx="1"/>
          </p:nvPr>
        </p:nvSpPr>
        <p:spPr/>
        <p:txBody>
          <a:bodyPr/>
          <a:lstStyle/>
          <a:p>
            <a:pPr algn="just"/>
            <a:r>
              <a:rPr lang="en-US" sz="2800" dirty="0" smtClean="0"/>
              <a:t>A recurrence is an equation that describes a function in terms of its values on smaller inputs.</a:t>
            </a:r>
          </a:p>
          <a:p>
            <a:pPr algn="just"/>
            <a:r>
              <a:rPr lang="en-US" sz="2800" dirty="0" smtClean="0"/>
              <a:t> To solve a Recurrence Relation means to obtain a function defined on the natural numbers that satisfy the recurrence</a:t>
            </a:r>
            <a:r>
              <a:rPr lang="en-US" dirty="0" smtClean="0"/>
              <a:t>.</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Methods for solving Recurrence</a:t>
            </a:r>
            <a:endParaRPr lang="en-US" dirty="0"/>
          </a:p>
        </p:txBody>
      </p:sp>
      <p:sp>
        <p:nvSpPr>
          <p:cNvPr id="3" name="Content Placeholder 2"/>
          <p:cNvSpPr>
            <a:spLocks noGrp="1"/>
          </p:cNvSpPr>
          <p:nvPr>
            <p:ph idx="1"/>
          </p:nvPr>
        </p:nvSpPr>
        <p:spPr/>
        <p:txBody>
          <a:bodyPr/>
          <a:lstStyle/>
          <a:p>
            <a:pPr algn="just">
              <a:spcBef>
                <a:spcPct val="0"/>
              </a:spcBef>
              <a:buFont typeface="Wingdings" pitchFamily="2" charset="2"/>
              <a:buChar char="Ø"/>
            </a:pPr>
            <a:r>
              <a:rPr lang="en-US" dirty="0" smtClean="0">
                <a:latin typeface="+mj-lt"/>
                <a:ea typeface="+mj-ea"/>
                <a:cs typeface="+mj-cs"/>
              </a:rPr>
              <a:t>Substitution Method</a:t>
            </a:r>
          </a:p>
          <a:p>
            <a:pPr lvl="1" algn="just">
              <a:spcBef>
                <a:spcPct val="0"/>
              </a:spcBef>
              <a:buFont typeface="Wingdings" pitchFamily="2" charset="2"/>
              <a:buChar char="Ø"/>
            </a:pPr>
            <a:r>
              <a:rPr lang="en-US" dirty="0" smtClean="0">
                <a:latin typeface="+mj-lt"/>
                <a:ea typeface="+mj-ea"/>
                <a:cs typeface="+mj-cs"/>
              </a:rPr>
              <a:t>Forward Substitution </a:t>
            </a:r>
          </a:p>
          <a:p>
            <a:pPr lvl="1" algn="just">
              <a:spcBef>
                <a:spcPct val="0"/>
              </a:spcBef>
              <a:buFont typeface="Wingdings" pitchFamily="2" charset="2"/>
              <a:buChar char="Ø"/>
            </a:pPr>
            <a:r>
              <a:rPr lang="en-US" dirty="0" smtClean="0">
                <a:latin typeface="+mj-lt"/>
                <a:ea typeface="+mj-ea"/>
                <a:cs typeface="+mj-cs"/>
              </a:rPr>
              <a:t>Backward Substitution</a:t>
            </a:r>
          </a:p>
          <a:p>
            <a:pPr algn="just">
              <a:spcBef>
                <a:spcPct val="0"/>
              </a:spcBef>
              <a:buFont typeface="Wingdings" pitchFamily="2" charset="2"/>
              <a:buChar char="Ø"/>
            </a:pPr>
            <a:r>
              <a:rPr lang="en-US" dirty="0" smtClean="0">
                <a:latin typeface="+mj-lt"/>
                <a:ea typeface="+mj-ea"/>
                <a:cs typeface="+mj-cs"/>
              </a:rPr>
              <a:t>Recursion Tree Method</a:t>
            </a:r>
          </a:p>
          <a:p>
            <a:pPr algn="just">
              <a:spcBef>
                <a:spcPct val="0"/>
              </a:spcBef>
              <a:buFont typeface="Wingdings" pitchFamily="2" charset="2"/>
              <a:buChar char="Ø"/>
            </a:pPr>
            <a:r>
              <a:rPr lang="en-US" dirty="0" smtClean="0">
                <a:latin typeface="+mj-lt"/>
                <a:ea typeface="+mj-ea"/>
                <a:cs typeface="+mj-cs"/>
              </a:rPr>
              <a:t>Master Method</a:t>
            </a:r>
          </a:p>
          <a:p>
            <a:pPr>
              <a:buNone/>
            </a:pP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Substitution Method</a:t>
            </a:r>
          </a:p>
        </p:txBody>
      </p:sp>
      <p:sp>
        <p:nvSpPr>
          <p:cNvPr id="3" name="Content Placeholder 2"/>
          <p:cNvSpPr>
            <a:spLocks noGrp="1"/>
          </p:cNvSpPr>
          <p:nvPr>
            <p:ph idx="1"/>
          </p:nvPr>
        </p:nvSpPr>
        <p:spPr/>
        <p:txBody>
          <a:bodyPr/>
          <a:lstStyle/>
          <a:p>
            <a:pPr algn="just">
              <a:buNone/>
            </a:pPr>
            <a:r>
              <a:rPr lang="en-US" sz="2800" dirty="0" smtClean="0"/>
              <a:t>The Substitution Method Consists of two main steps:</a:t>
            </a:r>
          </a:p>
          <a:p>
            <a:pPr algn="just"/>
            <a:r>
              <a:rPr lang="en-US" sz="2800" dirty="0" smtClean="0"/>
              <a:t>Guess the Solution.</a:t>
            </a:r>
          </a:p>
          <a:p>
            <a:pPr algn="just"/>
            <a:r>
              <a:rPr lang="en-US" sz="2800" dirty="0" smtClean="0"/>
              <a:t>Use the mathematical induction to find the boundary condition and shows that the guess is correct.</a:t>
            </a:r>
          </a:p>
          <a:p>
            <a:endParaRPr lang="en-US"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
            </a:r>
            <a:br>
              <a:rPr lang="en-US" dirty="0" smtClean="0"/>
            </a:br>
            <a:r>
              <a:rPr lang="en-US" dirty="0" smtClean="0"/>
              <a:t>Backward Substitution</a:t>
            </a:r>
            <a:br>
              <a:rPr lang="en-US" dirty="0" smtClean="0"/>
            </a:br>
            <a:endParaRPr lang="en-US" dirty="0" smtClean="0"/>
          </a:p>
        </p:txBody>
      </p:sp>
      <p:sp>
        <p:nvSpPr>
          <p:cNvPr id="3" name="Content Placeholder 2"/>
          <p:cNvSpPr>
            <a:spLocks noGrp="1"/>
          </p:cNvSpPr>
          <p:nvPr>
            <p:ph idx="1"/>
          </p:nvPr>
        </p:nvSpPr>
        <p:spPr/>
        <p:txBody>
          <a:bodyPr/>
          <a:lstStyle/>
          <a:p>
            <a:pPr algn="just"/>
            <a:r>
              <a:rPr lang="en-US" sz="2800" dirty="0" smtClean="0"/>
              <a:t>It means to expand the recurrence and express it as a summation of terms of n and initial condition.</a:t>
            </a:r>
          </a:p>
          <a:p>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
            </a:r>
            <a:br>
              <a:rPr lang="en-US" dirty="0" smtClean="0"/>
            </a:br>
            <a:r>
              <a:rPr lang="en-US" dirty="0" smtClean="0"/>
              <a:t> Backward Substitution </a:t>
            </a:r>
            <a:br>
              <a:rPr lang="en-US" dirty="0" smtClean="0"/>
            </a:br>
            <a:endParaRPr lang="en-US" dirty="0" smtClean="0"/>
          </a:p>
        </p:txBody>
      </p:sp>
      <p:sp>
        <p:nvSpPr>
          <p:cNvPr id="3" name="Content Placeholder 2"/>
          <p:cNvSpPr>
            <a:spLocks noGrp="1"/>
          </p:cNvSpPr>
          <p:nvPr>
            <p:ph idx="1"/>
          </p:nvPr>
        </p:nvSpPr>
        <p:spPr/>
        <p:txBody>
          <a:bodyPr/>
          <a:lstStyle/>
          <a:p>
            <a:pPr algn="just">
              <a:buNone/>
            </a:pPr>
            <a:r>
              <a:rPr lang="en-US" sz="2800" b="1" dirty="0" smtClean="0"/>
              <a:t>Example1:</a:t>
            </a:r>
            <a:r>
              <a:rPr lang="en-US" sz="2800" dirty="0" smtClean="0"/>
              <a:t> Consider the Recurrence</a:t>
            </a:r>
          </a:p>
          <a:p>
            <a:pPr algn="just">
              <a:buNone/>
            </a:pPr>
            <a:r>
              <a:rPr lang="en-US" sz="2800" dirty="0" smtClean="0"/>
              <a:t>T (n) = 1  </a:t>
            </a:r>
            <a:r>
              <a:rPr lang="en-US" sz="2800" b="1" dirty="0" smtClean="0"/>
              <a:t>if</a:t>
            </a:r>
            <a:r>
              <a:rPr lang="en-US" sz="2800" dirty="0" smtClean="0"/>
              <a:t> n=1  </a:t>
            </a:r>
          </a:p>
          <a:p>
            <a:pPr algn="just">
              <a:buNone/>
            </a:pPr>
            <a:r>
              <a:rPr lang="en-US" sz="2800" dirty="0" smtClean="0"/>
              <a:t>= 2T (n-1) </a:t>
            </a:r>
            <a:r>
              <a:rPr lang="en-US" sz="2800" b="1" dirty="0" smtClean="0"/>
              <a:t>if</a:t>
            </a:r>
            <a:r>
              <a:rPr lang="en-US" sz="2800" dirty="0" smtClean="0"/>
              <a:t> n&gt;1  </a:t>
            </a:r>
          </a:p>
          <a:p>
            <a:pPr algn="just">
              <a:buNone/>
            </a:pPr>
            <a:endParaRPr lang="en-US" sz="2800" b="1" dirty="0" smtClean="0"/>
          </a:p>
          <a:p>
            <a:pPr algn="just">
              <a:buNone/>
            </a:pPr>
            <a:r>
              <a:rPr lang="en-US" sz="2800" b="1" dirty="0" smtClean="0"/>
              <a:t>Example2:</a:t>
            </a:r>
            <a:r>
              <a:rPr lang="en-US" sz="2800" dirty="0" smtClean="0"/>
              <a:t> Consider the Recurrence</a:t>
            </a:r>
          </a:p>
          <a:p>
            <a:pPr algn="just">
              <a:buNone/>
            </a:pPr>
            <a:r>
              <a:rPr lang="en-US" sz="2800" dirty="0" smtClean="0"/>
              <a:t>T (n) = T (n-1) +1 and T (1) =  </a:t>
            </a:r>
            <a:r>
              <a:rPr lang="el-GR" sz="2800" dirty="0" smtClean="0"/>
              <a:t>θ (1).  </a:t>
            </a:r>
          </a:p>
          <a:p>
            <a:pPr>
              <a:buNone/>
            </a:pP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rmAutofit fontScale="90000"/>
          </a:bodyPr>
          <a:lstStyle/>
          <a:p>
            <a:r>
              <a:rPr lang="en-US" dirty="0" smtClean="0"/>
              <a:t/>
            </a:r>
            <a:br>
              <a:rPr lang="en-US" dirty="0" smtClean="0"/>
            </a:br>
            <a:r>
              <a:rPr lang="en-US" dirty="0" smtClean="0"/>
              <a:t>Recursion Tree Method</a:t>
            </a:r>
            <a:br>
              <a:rPr lang="en-US" dirty="0" smtClean="0"/>
            </a:br>
            <a:endParaRPr lang="en-US" dirty="0"/>
          </a:p>
        </p:txBody>
      </p:sp>
      <p:sp>
        <p:nvSpPr>
          <p:cNvPr id="3" name="Content Placeholder 2"/>
          <p:cNvSpPr>
            <a:spLocks noGrp="1"/>
          </p:cNvSpPr>
          <p:nvPr>
            <p:ph idx="1"/>
          </p:nvPr>
        </p:nvSpPr>
        <p:spPr/>
        <p:txBody>
          <a:bodyPr/>
          <a:lstStyle/>
          <a:p>
            <a:pPr algn="just"/>
            <a:r>
              <a:rPr lang="en-US" sz="2800" dirty="0" smtClean="0"/>
              <a:t>Recursion Tree Method is a pictorial representation of an iteration method which is in the form of a tree where at each level nodes are expanded.</a:t>
            </a:r>
          </a:p>
          <a:p>
            <a:pPr algn="just"/>
            <a:r>
              <a:rPr lang="en-US" sz="2800" dirty="0" smtClean="0"/>
              <a:t>In general, we consider the second term in recurrence as root.</a:t>
            </a:r>
          </a:p>
          <a:p>
            <a:pPr algn="just"/>
            <a:r>
              <a:rPr lang="en-US" sz="2800" dirty="0" smtClean="0"/>
              <a:t>It is useful when the divide &amp; Conquer algorithm is used.</a:t>
            </a:r>
          </a:p>
          <a:p>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Solve</a:t>
            </a:r>
            <a:endParaRPr lang="en-US" dirty="0"/>
          </a:p>
        </p:txBody>
      </p:sp>
      <p:sp>
        <p:nvSpPr>
          <p:cNvPr id="3" name="Content Placeholder 2"/>
          <p:cNvSpPr>
            <a:spLocks noGrp="1"/>
          </p:cNvSpPr>
          <p:nvPr>
            <p:ph idx="1"/>
          </p:nvPr>
        </p:nvSpPr>
        <p:spPr/>
        <p:txBody>
          <a:bodyPr/>
          <a:lstStyle/>
          <a:p>
            <a:pPr algn="just">
              <a:buNone/>
            </a:pPr>
            <a:r>
              <a:rPr lang="en-US" sz="2800" b="1" dirty="0" smtClean="0"/>
              <a:t>Example1: </a:t>
            </a:r>
            <a:r>
              <a:rPr lang="en-US" sz="2800" dirty="0" smtClean="0"/>
              <a:t>Consider the following recurrence</a:t>
            </a:r>
          </a:p>
          <a:p>
            <a:pPr algn="just">
              <a:buNone/>
            </a:pPr>
            <a:r>
              <a:rPr lang="en-US" sz="2800" dirty="0" smtClean="0"/>
              <a:t> T (n) = 2T(n/2) + n</a:t>
            </a:r>
            <a:r>
              <a:rPr lang="en-US" sz="2800" baseline="30000" dirty="0" smtClean="0"/>
              <a:t>2</a:t>
            </a:r>
          </a:p>
          <a:p>
            <a:pPr algn="just">
              <a:buNone/>
            </a:pPr>
            <a:r>
              <a:rPr lang="en-US" sz="2800" b="1" dirty="0" smtClean="0"/>
              <a:t>Example 2:</a:t>
            </a:r>
            <a:r>
              <a:rPr lang="en-US" sz="2800" dirty="0" smtClean="0"/>
              <a:t> Consider the following recurrence</a:t>
            </a:r>
          </a:p>
          <a:p>
            <a:pPr algn="just">
              <a:buNone/>
            </a:pPr>
            <a:r>
              <a:rPr lang="en-US" sz="2800" dirty="0" smtClean="0"/>
              <a:t>T (n) = 4T(n/2) +n </a:t>
            </a:r>
          </a:p>
          <a:p>
            <a:pPr algn="just">
              <a:buNone/>
            </a:pPr>
            <a:r>
              <a:rPr lang="en-US" sz="2800" b="1" dirty="0" smtClean="0"/>
              <a:t>Example 3:</a:t>
            </a:r>
            <a:r>
              <a:rPr lang="en-US" sz="2800" dirty="0" smtClean="0"/>
              <a:t> Consider the following recurrence</a:t>
            </a:r>
          </a:p>
          <a:p>
            <a:pPr algn="just">
              <a:buNone/>
            </a:pPr>
            <a:r>
              <a:rPr lang="en-US" sz="2800" dirty="0" smtClean="0"/>
              <a:t>T (n) = T(n/3) + T(2n/3) + n </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Method</a:t>
            </a:r>
          </a:p>
        </p:txBody>
      </p:sp>
      <p:sp>
        <p:nvSpPr>
          <p:cNvPr id="3" name="Content Placeholder 2"/>
          <p:cNvSpPr>
            <a:spLocks noGrp="1"/>
          </p:cNvSpPr>
          <p:nvPr>
            <p:ph idx="1"/>
          </p:nvPr>
        </p:nvSpPr>
        <p:spPr/>
        <p:txBody>
          <a:bodyPr>
            <a:normAutofit/>
          </a:bodyPr>
          <a:lstStyle/>
          <a:p>
            <a:pPr algn="just">
              <a:buNone/>
            </a:pPr>
            <a:r>
              <a:rPr lang="en-US" sz="2800" dirty="0" smtClean="0"/>
              <a:t>The Master Method is used for solving the following types of recurrence</a:t>
            </a:r>
          </a:p>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lgn="just">
              <a:buNone/>
            </a:pPr>
            <a:endParaRPr lang="en-US" sz="2800" dirty="0" smtClean="0"/>
          </a:p>
          <a:p>
            <a:pPr algn="just">
              <a:buNone/>
            </a:pPr>
            <a:r>
              <a:rPr lang="en-US" sz="2800" dirty="0" smtClean="0"/>
              <a:t>where a &gt;= 1, b &gt; 1, k &gt;= 0 and p is a real number</a:t>
            </a:r>
            <a:endParaRPr lang="en-US" sz="2800" dirty="0"/>
          </a:p>
        </p:txBody>
      </p:sp>
      <p:pic>
        <p:nvPicPr>
          <p:cNvPr id="4" name="Picture 3" descr="Master-Theorem.png"/>
          <p:cNvPicPr>
            <a:picLocks noChangeAspect="1"/>
          </p:cNvPicPr>
          <p:nvPr/>
        </p:nvPicPr>
        <p:blipFill>
          <a:blip r:embed="rId2"/>
          <a:stretch>
            <a:fillRect/>
          </a:stretch>
        </p:blipFill>
        <p:spPr>
          <a:xfrm>
            <a:off x="2362200" y="2805112"/>
            <a:ext cx="4457409" cy="1995488"/>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Method</a:t>
            </a:r>
          </a:p>
        </p:txBody>
      </p:sp>
      <p:sp>
        <p:nvSpPr>
          <p:cNvPr id="3" name="Content Placeholder 2"/>
          <p:cNvSpPr>
            <a:spLocks noGrp="1"/>
          </p:cNvSpPr>
          <p:nvPr>
            <p:ph idx="1"/>
          </p:nvPr>
        </p:nvSpPr>
        <p:spPr/>
        <p:txBody>
          <a:bodyPr>
            <a:normAutofit fontScale="92500" lnSpcReduction="10000"/>
          </a:bodyPr>
          <a:lstStyle/>
          <a:p>
            <a:pPr algn="just" fontAlgn="base">
              <a:buNone/>
            </a:pPr>
            <a:r>
              <a:rPr lang="en-US" sz="3000" dirty="0" smtClean="0"/>
              <a:t>In Master’s Theorem, we compare ‘a’ with ‘</a:t>
            </a:r>
            <a:r>
              <a:rPr lang="en-US" sz="3000" dirty="0" err="1" smtClean="0"/>
              <a:t>b</a:t>
            </a:r>
            <a:r>
              <a:rPr lang="en-US" sz="3000" baseline="30000" dirty="0" err="1" smtClean="0"/>
              <a:t>k</a:t>
            </a:r>
            <a:r>
              <a:rPr lang="en-US" sz="3000" dirty="0" smtClean="0"/>
              <a:t>‘ and then follow the following cases-</a:t>
            </a:r>
          </a:p>
          <a:p>
            <a:pPr algn="just" fontAlgn="base">
              <a:buNone/>
            </a:pPr>
            <a:r>
              <a:rPr lang="en-US" sz="3000" dirty="0" smtClean="0"/>
              <a:t> </a:t>
            </a:r>
            <a:r>
              <a:rPr lang="en-US" sz="3000" b="1" u="sng" dirty="0" smtClean="0"/>
              <a:t>Case-01:</a:t>
            </a:r>
            <a:endParaRPr lang="en-US" sz="3000" b="1" dirty="0" smtClean="0"/>
          </a:p>
          <a:p>
            <a:pPr algn="just" fontAlgn="base">
              <a:buNone/>
            </a:pPr>
            <a:r>
              <a:rPr lang="en-US" sz="3000" dirty="0" smtClean="0"/>
              <a:t> If a &gt; </a:t>
            </a:r>
            <a:r>
              <a:rPr lang="en-US" sz="3000" dirty="0" err="1" smtClean="0"/>
              <a:t>b</a:t>
            </a:r>
            <a:r>
              <a:rPr lang="en-US" sz="3000" baseline="30000" dirty="0" err="1" smtClean="0"/>
              <a:t>k</a:t>
            </a:r>
            <a:r>
              <a:rPr lang="en-US" sz="3000" dirty="0" smtClean="0"/>
              <a:t>, then T(n) = θ (</a:t>
            </a:r>
            <a:r>
              <a:rPr lang="en-US" sz="3000" dirty="0" err="1" smtClean="0"/>
              <a:t>n</a:t>
            </a:r>
            <a:r>
              <a:rPr lang="en-US" sz="3000" baseline="30000" dirty="0" err="1" smtClean="0"/>
              <a:t>log</a:t>
            </a:r>
            <a:r>
              <a:rPr lang="en-US" sz="3000" baseline="-25000" dirty="0" err="1" smtClean="0"/>
              <a:t>b</a:t>
            </a:r>
            <a:r>
              <a:rPr lang="en-US" sz="3000" baseline="30000" dirty="0" err="1" smtClean="0"/>
              <a:t>a</a:t>
            </a:r>
            <a:r>
              <a:rPr lang="en-US" sz="3000" dirty="0" smtClean="0"/>
              <a:t>)</a:t>
            </a:r>
          </a:p>
          <a:p>
            <a:pPr algn="just" fontAlgn="base">
              <a:buNone/>
            </a:pPr>
            <a:r>
              <a:rPr lang="en-US" sz="3000" dirty="0" smtClean="0"/>
              <a:t> </a:t>
            </a:r>
            <a:r>
              <a:rPr lang="en-US" sz="3000" b="1" u="sng" dirty="0" smtClean="0"/>
              <a:t>Case-02:</a:t>
            </a:r>
            <a:endParaRPr lang="en-US" sz="3000" b="1" dirty="0" smtClean="0"/>
          </a:p>
          <a:p>
            <a:pPr algn="just" fontAlgn="base">
              <a:buNone/>
            </a:pPr>
            <a:r>
              <a:rPr lang="en-US" sz="3000" dirty="0" smtClean="0"/>
              <a:t>If a = </a:t>
            </a:r>
            <a:r>
              <a:rPr lang="en-US" sz="3000" dirty="0" err="1" smtClean="0"/>
              <a:t>b</a:t>
            </a:r>
            <a:r>
              <a:rPr lang="en-US" sz="3000" baseline="30000" dirty="0" err="1" smtClean="0"/>
              <a:t>k</a:t>
            </a:r>
            <a:r>
              <a:rPr lang="en-US" sz="3000" baseline="30000" dirty="0" smtClean="0"/>
              <a:t> </a:t>
            </a:r>
            <a:r>
              <a:rPr lang="en-US" sz="3000" dirty="0" smtClean="0"/>
              <a:t>and-</a:t>
            </a:r>
          </a:p>
          <a:p>
            <a:pPr algn="just" fontAlgn="base">
              <a:buNone/>
            </a:pPr>
            <a:r>
              <a:rPr lang="en-US" sz="3000" dirty="0" smtClean="0"/>
              <a:t>If p &lt; -1, then T(n) = </a:t>
            </a:r>
            <a:r>
              <a:rPr lang="el-GR" sz="3000" dirty="0" smtClean="0"/>
              <a:t>θ (</a:t>
            </a:r>
            <a:r>
              <a:rPr lang="en-US" sz="3000" dirty="0" err="1" smtClean="0"/>
              <a:t>n</a:t>
            </a:r>
            <a:r>
              <a:rPr lang="en-US" sz="3000" baseline="30000" dirty="0" err="1" smtClean="0"/>
              <a:t>log</a:t>
            </a:r>
            <a:r>
              <a:rPr lang="en-US" sz="3000" baseline="-25000" dirty="0" err="1" smtClean="0"/>
              <a:t>b</a:t>
            </a:r>
            <a:r>
              <a:rPr lang="en-US" sz="3000" baseline="30000" dirty="0" err="1" smtClean="0"/>
              <a:t>a</a:t>
            </a:r>
            <a:r>
              <a:rPr lang="en-US" sz="3000" dirty="0" smtClean="0"/>
              <a:t>)</a:t>
            </a:r>
          </a:p>
          <a:p>
            <a:pPr algn="just" fontAlgn="base">
              <a:buNone/>
            </a:pPr>
            <a:r>
              <a:rPr lang="en-US" sz="3000" dirty="0" smtClean="0"/>
              <a:t>If p = -1, then T(n) = </a:t>
            </a:r>
            <a:r>
              <a:rPr lang="el-GR" sz="3000" dirty="0" smtClean="0"/>
              <a:t>θ (</a:t>
            </a:r>
            <a:r>
              <a:rPr lang="en-US" sz="3000" dirty="0" smtClean="0"/>
              <a:t>n</a:t>
            </a:r>
            <a:r>
              <a:rPr lang="en-US" sz="3000" baseline="30000" dirty="0" smtClean="0"/>
              <a:t>log</a:t>
            </a:r>
            <a:r>
              <a:rPr lang="en-US" sz="3000" baseline="-25000" dirty="0" smtClean="0"/>
              <a:t>b</a:t>
            </a:r>
            <a:r>
              <a:rPr lang="en-US" sz="3000" baseline="30000" dirty="0" smtClean="0"/>
              <a:t>a</a:t>
            </a:r>
            <a:r>
              <a:rPr lang="en-US" sz="3000" dirty="0" smtClean="0"/>
              <a:t>.log</a:t>
            </a:r>
            <a:r>
              <a:rPr lang="en-US" sz="3000" baseline="30000" dirty="0" smtClean="0"/>
              <a:t>2</a:t>
            </a:r>
            <a:r>
              <a:rPr lang="en-US" sz="3000" dirty="0" smtClean="0"/>
              <a:t>n)</a:t>
            </a:r>
          </a:p>
          <a:p>
            <a:pPr algn="just" fontAlgn="base">
              <a:buNone/>
            </a:pPr>
            <a:r>
              <a:rPr lang="en-US" sz="3000" dirty="0" smtClean="0"/>
              <a:t>If p &gt; -1, then T(n) = </a:t>
            </a:r>
            <a:r>
              <a:rPr lang="el-GR" sz="3000" dirty="0" smtClean="0"/>
              <a:t>θ (</a:t>
            </a:r>
            <a:r>
              <a:rPr lang="en-US" sz="3000" dirty="0" smtClean="0"/>
              <a:t>n</a:t>
            </a:r>
            <a:r>
              <a:rPr lang="en-US" sz="3000" baseline="30000" dirty="0" smtClean="0"/>
              <a:t>log</a:t>
            </a:r>
            <a:r>
              <a:rPr lang="en-US" sz="3000" baseline="-25000" dirty="0" smtClean="0"/>
              <a:t>b</a:t>
            </a:r>
            <a:r>
              <a:rPr lang="en-US" sz="3000" baseline="30000" dirty="0" smtClean="0"/>
              <a:t>a</a:t>
            </a:r>
            <a:r>
              <a:rPr lang="en-US" sz="3000" dirty="0" smtClean="0"/>
              <a:t>.log</a:t>
            </a:r>
            <a:r>
              <a:rPr lang="en-US" sz="3000" baseline="30000" dirty="0" smtClean="0"/>
              <a:t>p+1</a:t>
            </a:r>
            <a:r>
              <a:rPr lang="en-US" sz="3000" dirty="0" smtClean="0"/>
              <a:t>n)</a:t>
            </a:r>
          </a:p>
          <a:p>
            <a:pPr fontAlgn="base"/>
            <a:endParaRPr lang="en-US" dirty="0" smtClean="0"/>
          </a:p>
          <a:p>
            <a:pPr>
              <a:buNone/>
            </a:pPr>
            <a:endParaRPr lang="en-US" dirty="0" smtClean="0"/>
          </a:p>
          <a:p>
            <a:pPr>
              <a:buNone/>
            </a:pPr>
            <a:endParaRPr lang="en-US" dirty="0" smtClean="0"/>
          </a:p>
          <a:p>
            <a:pPr>
              <a:buNone/>
            </a:pPr>
            <a:endParaRPr lang="en-US" dirty="0" smtClean="0"/>
          </a:p>
          <a:p>
            <a:pPr>
              <a:buNone/>
            </a:pPr>
            <a:endParaRPr lang="en-US" dirty="0" smtClean="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Master Method</a:t>
            </a:r>
            <a:endParaRPr lang="en-US" dirty="0"/>
          </a:p>
        </p:txBody>
      </p:sp>
      <p:sp>
        <p:nvSpPr>
          <p:cNvPr id="3" name="Content Placeholder 2"/>
          <p:cNvSpPr>
            <a:spLocks noGrp="1"/>
          </p:cNvSpPr>
          <p:nvPr>
            <p:ph idx="1"/>
          </p:nvPr>
        </p:nvSpPr>
        <p:spPr/>
        <p:txBody>
          <a:bodyPr/>
          <a:lstStyle/>
          <a:p>
            <a:pPr algn="just" fontAlgn="base">
              <a:buNone/>
            </a:pPr>
            <a:r>
              <a:rPr lang="en-US" sz="2800" b="1" u="sng" dirty="0" smtClean="0"/>
              <a:t>Case-03:</a:t>
            </a:r>
            <a:endParaRPr lang="en-US" sz="2800" b="1" dirty="0" smtClean="0"/>
          </a:p>
          <a:p>
            <a:pPr algn="just" fontAlgn="base">
              <a:buNone/>
            </a:pPr>
            <a:r>
              <a:rPr lang="en-US" sz="2800" dirty="0" smtClean="0"/>
              <a:t> If a &lt; </a:t>
            </a:r>
            <a:r>
              <a:rPr lang="en-US" sz="2800" dirty="0" err="1" smtClean="0"/>
              <a:t>b</a:t>
            </a:r>
            <a:r>
              <a:rPr lang="en-US" sz="2800" baseline="30000" dirty="0" err="1" smtClean="0"/>
              <a:t>k</a:t>
            </a:r>
            <a:r>
              <a:rPr lang="en-US" sz="2800" baseline="30000" dirty="0" smtClean="0"/>
              <a:t> </a:t>
            </a:r>
            <a:r>
              <a:rPr lang="en-US" sz="2800" dirty="0" smtClean="0"/>
              <a:t>and-</a:t>
            </a:r>
          </a:p>
          <a:p>
            <a:pPr algn="just" fontAlgn="base">
              <a:buNone/>
            </a:pPr>
            <a:r>
              <a:rPr lang="en-US" sz="2800" dirty="0" smtClean="0"/>
              <a:t>If p &lt; 0,  then T(n) = O (</a:t>
            </a:r>
            <a:r>
              <a:rPr lang="en-US" sz="2800" dirty="0" err="1" smtClean="0"/>
              <a:t>n</a:t>
            </a:r>
            <a:r>
              <a:rPr lang="en-US" sz="2800" baseline="30000" dirty="0" err="1" smtClean="0"/>
              <a:t>k</a:t>
            </a:r>
            <a:r>
              <a:rPr lang="en-US" sz="2800" dirty="0" smtClean="0"/>
              <a:t>)</a:t>
            </a:r>
          </a:p>
          <a:p>
            <a:pPr algn="just" fontAlgn="base">
              <a:buNone/>
            </a:pPr>
            <a:r>
              <a:rPr lang="en-US" sz="2800" dirty="0" smtClean="0"/>
              <a:t>If p &gt;= 0, then T(n) = 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a:buNone/>
            </a:pPr>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Problem-01</a:t>
            </a:r>
            <a:endParaRPr lang="en-US" dirty="0"/>
          </a:p>
        </p:txBody>
      </p:sp>
      <p:sp>
        <p:nvSpPr>
          <p:cNvPr id="3" name="Content Placeholder 2"/>
          <p:cNvSpPr>
            <a:spLocks noGrp="1"/>
          </p:cNvSpPr>
          <p:nvPr>
            <p:ph idx="1"/>
          </p:nvPr>
        </p:nvSpPr>
        <p:spPr/>
        <p:txBody>
          <a:bodyPr>
            <a:normAutofit/>
          </a:bodyPr>
          <a:lstStyle/>
          <a:p>
            <a:pPr algn="just" fontAlgn="base">
              <a:buNone/>
            </a:pPr>
            <a:r>
              <a:rPr lang="en-US" sz="2800" dirty="0" smtClean="0"/>
              <a:t>Solve the recurrence relation using Master’s Theorem-</a:t>
            </a:r>
          </a:p>
          <a:p>
            <a:pPr algn="just" fontAlgn="base">
              <a:buNone/>
            </a:pPr>
            <a:r>
              <a:rPr lang="en-US" sz="2800" dirty="0" smtClean="0"/>
              <a:t>T(n) = 2T(n/2) + n</a:t>
            </a:r>
            <a:endParaRPr lang="en-US" sz="2800" baseline="30000" dirty="0" smtClean="0"/>
          </a:p>
          <a:p>
            <a:pPr algn="just" fontAlgn="base">
              <a:buNone/>
            </a:pPr>
            <a:r>
              <a:rPr lang="en-US" sz="2800" dirty="0" smtClean="0"/>
              <a:t>On comparing the given recurrence relation with-</a:t>
            </a:r>
          </a:p>
          <a:p>
            <a:pPr algn="just" fontAlgn="base">
              <a:buNone/>
            </a:pPr>
            <a:r>
              <a:rPr lang="en-US" sz="2800" dirty="0" smtClean="0"/>
              <a:t>T(n) = </a:t>
            </a:r>
            <a:r>
              <a:rPr lang="en-US" sz="2800" dirty="0" err="1" smtClean="0"/>
              <a:t>aT</a:t>
            </a:r>
            <a:r>
              <a:rPr lang="en-US" sz="2800" dirty="0" smtClean="0"/>
              <a:t>(n/b) + 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algn="just" fontAlgn="base">
              <a:buNone/>
            </a:pPr>
            <a:r>
              <a:rPr lang="en-US" sz="2800" dirty="0" smtClean="0"/>
              <a:t>we have-</a:t>
            </a:r>
          </a:p>
          <a:p>
            <a:pPr algn="just" fontAlgn="base">
              <a:buNone/>
            </a:pPr>
            <a:r>
              <a:rPr lang="en-US" sz="2800" dirty="0" smtClean="0"/>
              <a:t>a = 2     b = 2      k = 1      p = 0</a:t>
            </a:r>
          </a:p>
          <a:p>
            <a:pPr fontAlgn="base">
              <a:buNone/>
            </a:pPr>
            <a:endParaRPr lang="en-US" dirty="0" smtClean="0"/>
          </a:p>
          <a:p>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Problem-01</a:t>
            </a:r>
            <a:endParaRPr lang="en-US" dirty="0"/>
          </a:p>
        </p:txBody>
      </p:sp>
      <p:sp>
        <p:nvSpPr>
          <p:cNvPr id="3" name="Content Placeholder 2"/>
          <p:cNvSpPr>
            <a:spLocks noGrp="1"/>
          </p:cNvSpPr>
          <p:nvPr>
            <p:ph idx="1"/>
          </p:nvPr>
        </p:nvSpPr>
        <p:spPr/>
        <p:txBody>
          <a:bodyPr>
            <a:normAutofit/>
          </a:bodyPr>
          <a:lstStyle/>
          <a:p>
            <a:pPr algn="just" fontAlgn="base">
              <a:buNone/>
            </a:pPr>
            <a:r>
              <a:rPr lang="en-US" sz="2800" dirty="0" smtClean="0"/>
              <a:t>Now, a = 3 and </a:t>
            </a:r>
            <a:r>
              <a:rPr lang="en-US" sz="2800" dirty="0" err="1" smtClean="0"/>
              <a:t>b</a:t>
            </a:r>
            <a:r>
              <a:rPr lang="en-US" sz="2800" baseline="30000" dirty="0" err="1" smtClean="0"/>
              <a:t>k</a:t>
            </a:r>
            <a:r>
              <a:rPr lang="en-US" sz="2800" dirty="0" smtClean="0"/>
              <a:t> = 2</a:t>
            </a:r>
            <a:r>
              <a:rPr lang="en-US" sz="2800" baseline="30000" dirty="0" smtClean="0"/>
              <a:t>2</a:t>
            </a:r>
            <a:r>
              <a:rPr lang="en-US" sz="2800" dirty="0" smtClean="0"/>
              <a:t> = 4.</a:t>
            </a:r>
          </a:p>
          <a:p>
            <a:pPr algn="just" fontAlgn="base">
              <a:buNone/>
            </a:pPr>
            <a:r>
              <a:rPr lang="en-US" sz="2800" dirty="0" smtClean="0"/>
              <a:t>Clearly, a &lt; </a:t>
            </a:r>
            <a:r>
              <a:rPr lang="en-US" sz="2800" dirty="0" err="1" smtClean="0"/>
              <a:t>b</a:t>
            </a:r>
            <a:r>
              <a:rPr lang="en-US" sz="2800" baseline="30000" dirty="0" err="1" smtClean="0"/>
              <a:t>k</a:t>
            </a:r>
            <a:endParaRPr lang="en-US" sz="2800" dirty="0" smtClean="0"/>
          </a:p>
          <a:p>
            <a:pPr algn="just" fontAlgn="base">
              <a:buNone/>
            </a:pPr>
            <a:r>
              <a:rPr lang="en-US" sz="2800" dirty="0" smtClean="0"/>
              <a:t>So, we follow case-03.</a:t>
            </a:r>
          </a:p>
          <a:p>
            <a:pPr algn="just" fontAlgn="base">
              <a:buNone/>
            </a:pPr>
            <a:r>
              <a:rPr lang="en-US" sz="2800" dirty="0" smtClean="0"/>
              <a:t>Since p = 0, so we have-</a:t>
            </a:r>
          </a:p>
          <a:p>
            <a:pPr algn="just" fontAlgn="base">
              <a:buNone/>
            </a:pPr>
            <a:r>
              <a:rPr lang="en-US" sz="2800" dirty="0" smtClean="0"/>
              <a:t>T(n) = 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algn="just" fontAlgn="base">
              <a:buNone/>
            </a:pPr>
            <a:r>
              <a:rPr lang="en-US" sz="2800" dirty="0" smtClean="0"/>
              <a:t>T(n) = θ (n</a:t>
            </a:r>
            <a:r>
              <a:rPr lang="en-US" sz="2800" baseline="30000" dirty="0" smtClean="0"/>
              <a:t>2</a:t>
            </a:r>
            <a:r>
              <a:rPr lang="en-US" sz="2800" dirty="0" smtClean="0"/>
              <a:t>log</a:t>
            </a:r>
            <a:r>
              <a:rPr lang="en-US" sz="2800" baseline="30000" dirty="0" smtClean="0"/>
              <a:t>0</a:t>
            </a:r>
            <a:r>
              <a:rPr lang="en-US" sz="2800" dirty="0" smtClean="0"/>
              <a:t>n)</a:t>
            </a:r>
          </a:p>
          <a:p>
            <a:pPr algn="just" fontAlgn="base">
              <a:buNone/>
            </a:pPr>
            <a:r>
              <a:rPr lang="en-US" sz="2800" dirty="0" smtClean="0"/>
              <a:t>Thus,</a:t>
            </a:r>
          </a:p>
          <a:p>
            <a:pPr algn="just">
              <a:buNone/>
            </a:pPr>
            <a:r>
              <a:rPr lang="en-US" sz="2800" b="1" dirty="0" smtClean="0"/>
              <a:t>T(n) = θ (n</a:t>
            </a:r>
            <a:r>
              <a:rPr lang="en-US" sz="2800" b="1" baseline="30000" dirty="0" smtClean="0"/>
              <a:t>2</a:t>
            </a:r>
            <a:r>
              <a:rPr lang="en-US" sz="2800" b="1" dirty="0" smtClean="0"/>
              <a:t>)</a:t>
            </a:r>
            <a:endParaRPr lang="en-US" sz="2800" dirty="0"/>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smtClean="0"/>
              <a:t/>
            </a:r>
            <a:br>
              <a:rPr lang="en-US" b="1" u="sng" dirty="0" smtClean="0"/>
            </a:br>
            <a:r>
              <a:rPr lang="en-US" sz="4900" dirty="0" smtClean="0"/>
              <a:t>Problem-02</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lgn="just" fontAlgn="base"/>
            <a:r>
              <a:rPr lang="en-US" sz="2800" dirty="0" smtClean="0"/>
              <a:t>Solve the recurrence relation using Master’s Theorem-  T(n) = 2T(n/2) + </a:t>
            </a:r>
            <a:r>
              <a:rPr lang="en-US" sz="2800" dirty="0" err="1" smtClean="0"/>
              <a:t>nlogn</a:t>
            </a:r>
            <a:endParaRPr lang="en-US" sz="2800" dirty="0" smtClean="0"/>
          </a:p>
          <a:p>
            <a:pPr algn="just" fontAlgn="base">
              <a:buNone/>
            </a:pPr>
            <a:r>
              <a:rPr lang="en-US" sz="2800" dirty="0" smtClean="0"/>
              <a:t>	On comparing the given recurrence relation with-</a:t>
            </a:r>
          </a:p>
          <a:p>
            <a:pPr algn="just" fontAlgn="base">
              <a:buNone/>
            </a:pPr>
            <a:r>
              <a:rPr lang="en-US" sz="2800" dirty="0" smtClean="0"/>
              <a:t>	T(n) = </a:t>
            </a:r>
            <a:r>
              <a:rPr lang="en-US" sz="2800" dirty="0" err="1" smtClean="0"/>
              <a:t>aT</a:t>
            </a:r>
            <a:r>
              <a:rPr lang="en-US" sz="2800" dirty="0" smtClean="0"/>
              <a:t>(n/b) + 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algn="just" fontAlgn="base">
              <a:buNone/>
            </a:pPr>
            <a:r>
              <a:rPr lang="en-US" sz="2800" dirty="0" smtClean="0"/>
              <a:t>	we have-</a:t>
            </a:r>
          </a:p>
          <a:p>
            <a:pPr algn="just" fontAlgn="base">
              <a:buNone/>
            </a:pPr>
            <a:r>
              <a:rPr lang="en-US" sz="2800" dirty="0" smtClean="0"/>
              <a:t>	a = 2	b = 2		k = 1		p = 1</a:t>
            </a:r>
          </a:p>
          <a:p>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Problem-02</a:t>
            </a:r>
            <a:endParaRPr lang="en-US" dirty="0"/>
          </a:p>
        </p:txBody>
      </p:sp>
      <p:sp>
        <p:nvSpPr>
          <p:cNvPr id="3" name="Content Placeholder 2"/>
          <p:cNvSpPr>
            <a:spLocks noGrp="1"/>
          </p:cNvSpPr>
          <p:nvPr>
            <p:ph idx="1"/>
          </p:nvPr>
        </p:nvSpPr>
        <p:spPr/>
        <p:txBody>
          <a:bodyPr>
            <a:normAutofit/>
          </a:bodyPr>
          <a:lstStyle/>
          <a:p>
            <a:pPr algn="just" fontAlgn="base">
              <a:buNone/>
            </a:pPr>
            <a:r>
              <a:rPr lang="en-US" sz="2800" dirty="0" smtClean="0"/>
              <a:t>Now, a = 2 and </a:t>
            </a:r>
            <a:r>
              <a:rPr lang="en-US" sz="2800" dirty="0" err="1" smtClean="0"/>
              <a:t>b</a:t>
            </a:r>
            <a:r>
              <a:rPr lang="en-US" sz="2800" baseline="30000" dirty="0" err="1" smtClean="0"/>
              <a:t>k</a:t>
            </a:r>
            <a:r>
              <a:rPr lang="en-US" sz="2800" dirty="0" smtClean="0"/>
              <a:t> = 2</a:t>
            </a:r>
            <a:r>
              <a:rPr lang="en-US" sz="2800" baseline="30000" dirty="0" smtClean="0"/>
              <a:t>1</a:t>
            </a:r>
            <a:r>
              <a:rPr lang="en-US" sz="2800" dirty="0" smtClean="0"/>
              <a:t> = 2.</a:t>
            </a:r>
          </a:p>
          <a:p>
            <a:pPr algn="just" fontAlgn="base">
              <a:buNone/>
            </a:pPr>
            <a:r>
              <a:rPr lang="en-US" sz="2800" dirty="0" smtClean="0"/>
              <a:t>Clearly, a = </a:t>
            </a:r>
            <a:r>
              <a:rPr lang="en-US" sz="2800" dirty="0" err="1" smtClean="0"/>
              <a:t>b</a:t>
            </a:r>
            <a:r>
              <a:rPr lang="en-US" sz="2800" baseline="30000" dirty="0" err="1" smtClean="0"/>
              <a:t>k</a:t>
            </a:r>
            <a:endParaRPr lang="en-US" sz="2800" dirty="0" smtClean="0"/>
          </a:p>
          <a:p>
            <a:pPr algn="just" fontAlgn="base">
              <a:buNone/>
            </a:pPr>
            <a:r>
              <a:rPr lang="en-US" sz="2800" dirty="0" smtClean="0"/>
              <a:t>So, we follow case-02.</a:t>
            </a:r>
          </a:p>
          <a:p>
            <a:pPr algn="just" fontAlgn="base">
              <a:buNone/>
            </a:pPr>
            <a:r>
              <a:rPr lang="en-US" sz="2800" dirty="0" smtClean="0"/>
              <a:t>Since p = 1, so we have-</a:t>
            </a:r>
          </a:p>
          <a:p>
            <a:pPr algn="just" fontAlgn="base">
              <a:buNone/>
            </a:pPr>
            <a:r>
              <a:rPr lang="en-US" sz="2800" dirty="0" smtClean="0"/>
              <a:t>T(n) = θ (n</a:t>
            </a:r>
            <a:r>
              <a:rPr lang="en-US" sz="2800" baseline="30000" dirty="0" smtClean="0"/>
              <a:t>log</a:t>
            </a:r>
            <a:r>
              <a:rPr lang="en-US" sz="2800" baseline="-25000" dirty="0" smtClean="0"/>
              <a:t>b</a:t>
            </a:r>
            <a:r>
              <a:rPr lang="en-US" sz="2800" baseline="30000" dirty="0" smtClean="0"/>
              <a:t>a</a:t>
            </a:r>
            <a:r>
              <a:rPr lang="en-US" sz="2800" dirty="0" smtClean="0"/>
              <a:t>.log</a:t>
            </a:r>
            <a:r>
              <a:rPr lang="en-US" sz="2800" baseline="30000" dirty="0" smtClean="0"/>
              <a:t>p+1</a:t>
            </a:r>
            <a:r>
              <a:rPr lang="en-US" sz="2800" dirty="0" smtClean="0"/>
              <a:t>n)</a:t>
            </a:r>
          </a:p>
          <a:p>
            <a:pPr algn="just" fontAlgn="base">
              <a:buNone/>
            </a:pPr>
            <a:r>
              <a:rPr lang="en-US" sz="2800" dirty="0" smtClean="0"/>
              <a:t>T(n) = θ (n</a:t>
            </a:r>
            <a:r>
              <a:rPr lang="en-US" sz="2800" baseline="30000" dirty="0" smtClean="0"/>
              <a:t>log</a:t>
            </a:r>
            <a:r>
              <a:rPr lang="en-US" sz="2800" baseline="-25000" dirty="0" smtClean="0"/>
              <a:t>2</a:t>
            </a:r>
            <a:r>
              <a:rPr lang="en-US" sz="2800" baseline="30000" dirty="0" smtClean="0"/>
              <a:t>2</a:t>
            </a:r>
            <a:r>
              <a:rPr lang="en-US" sz="2800" dirty="0" smtClean="0"/>
              <a:t>.log</a:t>
            </a:r>
            <a:r>
              <a:rPr lang="en-US" sz="2800" baseline="30000" dirty="0" smtClean="0"/>
              <a:t>1+1</a:t>
            </a:r>
            <a:r>
              <a:rPr lang="en-US" sz="2800" dirty="0" smtClean="0"/>
              <a:t>n)</a:t>
            </a:r>
          </a:p>
          <a:p>
            <a:pPr algn="just" fontAlgn="base">
              <a:buNone/>
            </a:pPr>
            <a:r>
              <a:rPr lang="en-US" sz="2800" dirty="0" smtClean="0"/>
              <a:t>Thus,</a:t>
            </a:r>
          </a:p>
          <a:p>
            <a:pPr algn="just">
              <a:buNone/>
            </a:pPr>
            <a:r>
              <a:rPr lang="en-US" sz="2800" b="1" dirty="0" smtClean="0"/>
              <a:t>T(n) = θ (nlog</a:t>
            </a:r>
            <a:r>
              <a:rPr lang="en-US" sz="2800" b="1" baseline="30000" dirty="0" smtClean="0"/>
              <a:t>2</a:t>
            </a:r>
            <a:r>
              <a:rPr lang="en-US" sz="2800" b="1" dirty="0" smtClean="0"/>
              <a:t>n)</a:t>
            </a:r>
            <a:endParaRPr lang="en-US" sz="2800"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Problem-03</a:t>
            </a:r>
            <a:endParaRPr lang="en-US" dirty="0"/>
          </a:p>
        </p:txBody>
      </p:sp>
      <p:sp>
        <p:nvSpPr>
          <p:cNvPr id="3" name="Content Placeholder 2"/>
          <p:cNvSpPr>
            <a:spLocks noGrp="1"/>
          </p:cNvSpPr>
          <p:nvPr>
            <p:ph idx="1"/>
          </p:nvPr>
        </p:nvSpPr>
        <p:spPr/>
        <p:txBody>
          <a:bodyPr>
            <a:normAutofit/>
          </a:bodyPr>
          <a:lstStyle/>
          <a:p>
            <a:pPr algn="just" fontAlgn="base">
              <a:buNone/>
            </a:pPr>
            <a:r>
              <a:rPr lang="en-US" sz="2800" dirty="0" smtClean="0"/>
              <a:t>Solve the recurrence relation using Master’s Theorem-</a:t>
            </a:r>
          </a:p>
          <a:p>
            <a:pPr algn="just" fontAlgn="base">
              <a:buNone/>
            </a:pPr>
            <a:r>
              <a:rPr lang="en-US" sz="2800" dirty="0" smtClean="0"/>
              <a:t>T(n) = 2T(n/4) + n</a:t>
            </a:r>
            <a:r>
              <a:rPr lang="en-US" sz="2800" baseline="30000" dirty="0" smtClean="0"/>
              <a:t>0.51</a:t>
            </a:r>
            <a:endParaRPr lang="en-US" sz="2800" dirty="0" smtClean="0"/>
          </a:p>
          <a:p>
            <a:pPr algn="just" fontAlgn="base">
              <a:buNone/>
            </a:pPr>
            <a:r>
              <a:rPr lang="en-US" sz="2800" dirty="0" smtClean="0"/>
              <a:t> On comparing the given recurrence relation with-</a:t>
            </a:r>
          </a:p>
          <a:p>
            <a:pPr algn="just" fontAlgn="base">
              <a:buNone/>
            </a:pPr>
            <a:r>
              <a:rPr lang="en-US" sz="2800" dirty="0" smtClean="0"/>
              <a:t>T(n) = </a:t>
            </a:r>
            <a:r>
              <a:rPr lang="en-US" sz="2800" dirty="0" err="1" smtClean="0"/>
              <a:t>aT</a:t>
            </a:r>
            <a:r>
              <a:rPr lang="en-US" sz="2800" dirty="0" smtClean="0"/>
              <a:t>(n/b) + </a:t>
            </a:r>
            <a:r>
              <a:rPr lang="el-GR" sz="2800" dirty="0" smtClean="0"/>
              <a:t>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algn="just" fontAlgn="base">
              <a:buNone/>
            </a:pPr>
            <a:r>
              <a:rPr lang="en-US" sz="2800" dirty="0" smtClean="0"/>
              <a:t>we have-</a:t>
            </a:r>
          </a:p>
          <a:p>
            <a:pPr algn="just" fontAlgn="base">
              <a:buNone/>
            </a:pPr>
            <a:r>
              <a:rPr lang="en-US" sz="2800" dirty="0" smtClean="0"/>
              <a:t>a = 2	b = 4	k = 0.51	p = 0</a:t>
            </a:r>
          </a:p>
          <a:p>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Problem-03</a:t>
            </a:r>
            <a:endParaRPr lang="en-US" dirty="0"/>
          </a:p>
        </p:txBody>
      </p:sp>
      <p:sp>
        <p:nvSpPr>
          <p:cNvPr id="3" name="Content Placeholder 2"/>
          <p:cNvSpPr>
            <a:spLocks noGrp="1"/>
          </p:cNvSpPr>
          <p:nvPr>
            <p:ph idx="1"/>
          </p:nvPr>
        </p:nvSpPr>
        <p:spPr/>
        <p:txBody>
          <a:bodyPr>
            <a:normAutofit/>
          </a:bodyPr>
          <a:lstStyle/>
          <a:p>
            <a:pPr algn="just" fontAlgn="base">
              <a:buNone/>
            </a:pPr>
            <a:r>
              <a:rPr lang="en-US" sz="2800" dirty="0" smtClean="0"/>
              <a:t>Now, a = 2 and </a:t>
            </a:r>
            <a:r>
              <a:rPr lang="en-US" sz="2800" dirty="0" err="1" smtClean="0"/>
              <a:t>b</a:t>
            </a:r>
            <a:r>
              <a:rPr lang="en-US" sz="2800" baseline="30000" dirty="0" err="1" smtClean="0"/>
              <a:t>k</a:t>
            </a:r>
            <a:r>
              <a:rPr lang="en-US" sz="2800" dirty="0" smtClean="0"/>
              <a:t> = 4</a:t>
            </a:r>
            <a:r>
              <a:rPr lang="en-US" sz="2800" baseline="30000" dirty="0" smtClean="0"/>
              <a:t>0.51</a:t>
            </a:r>
            <a:r>
              <a:rPr lang="en-US" sz="2800" dirty="0" smtClean="0"/>
              <a:t> = 2.0279</a:t>
            </a:r>
          </a:p>
          <a:p>
            <a:pPr algn="just" fontAlgn="base">
              <a:buNone/>
            </a:pPr>
            <a:r>
              <a:rPr lang="en-US" sz="2800" dirty="0" smtClean="0"/>
              <a:t>Clearly, a &lt; </a:t>
            </a:r>
            <a:r>
              <a:rPr lang="en-US" sz="2800" dirty="0" err="1" smtClean="0"/>
              <a:t>b</a:t>
            </a:r>
            <a:r>
              <a:rPr lang="en-US" sz="2800" baseline="30000" dirty="0" err="1" smtClean="0"/>
              <a:t>k</a:t>
            </a:r>
            <a:endParaRPr lang="en-US" sz="2800" dirty="0" smtClean="0"/>
          </a:p>
          <a:p>
            <a:pPr algn="just" fontAlgn="base">
              <a:buNone/>
            </a:pPr>
            <a:r>
              <a:rPr lang="en-US" sz="2800" dirty="0" smtClean="0"/>
              <a:t>So, we follow case-03.</a:t>
            </a:r>
          </a:p>
          <a:p>
            <a:pPr algn="just" fontAlgn="base">
              <a:buNone/>
            </a:pPr>
            <a:r>
              <a:rPr lang="en-US" sz="2800" dirty="0" smtClean="0"/>
              <a:t>Since p = 0, so we have-</a:t>
            </a:r>
          </a:p>
          <a:p>
            <a:pPr algn="just" fontAlgn="base">
              <a:buNone/>
            </a:pPr>
            <a:r>
              <a:rPr lang="en-US" sz="2800" dirty="0" smtClean="0"/>
              <a:t>T(n) = </a:t>
            </a:r>
            <a:r>
              <a:rPr lang="el-GR" sz="2800" dirty="0" smtClean="0"/>
              <a:t>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algn="just" fontAlgn="base">
              <a:buNone/>
            </a:pPr>
            <a:r>
              <a:rPr lang="en-US" sz="2800" dirty="0" smtClean="0"/>
              <a:t>T(n) = </a:t>
            </a:r>
            <a:r>
              <a:rPr lang="el-GR" sz="2800" dirty="0" smtClean="0"/>
              <a:t>θ (</a:t>
            </a:r>
            <a:r>
              <a:rPr lang="en-US" sz="2800" dirty="0" smtClean="0"/>
              <a:t>n</a:t>
            </a:r>
            <a:r>
              <a:rPr lang="en-US" sz="2800" baseline="30000" dirty="0" smtClean="0"/>
              <a:t>0.51</a:t>
            </a:r>
            <a:r>
              <a:rPr lang="en-US" sz="2800" dirty="0" smtClean="0"/>
              <a:t>log</a:t>
            </a:r>
            <a:r>
              <a:rPr lang="en-US" sz="2800" baseline="30000" dirty="0" smtClean="0"/>
              <a:t>0</a:t>
            </a:r>
            <a:r>
              <a:rPr lang="en-US" sz="2800" dirty="0" smtClean="0"/>
              <a:t>n)</a:t>
            </a:r>
          </a:p>
          <a:p>
            <a:pPr algn="just" fontAlgn="base">
              <a:buNone/>
            </a:pPr>
            <a:r>
              <a:rPr lang="en-US" sz="2800" dirty="0" smtClean="0"/>
              <a:t>Thus,</a:t>
            </a:r>
          </a:p>
          <a:p>
            <a:pPr algn="just" fontAlgn="base">
              <a:buNone/>
            </a:pPr>
            <a:r>
              <a:rPr lang="en-US" sz="2800" b="1" dirty="0" smtClean="0"/>
              <a:t>T(n) = </a:t>
            </a:r>
            <a:r>
              <a:rPr lang="el-GR" sz="2800" b="1" dirty="0" smtClean="0"/>
              <a:t>θ (</a:t>
            </a:r>
            <a:r>
              <a:rPr lang="en-US" sz="2800" b="1" dirty="0" smtClean="0"/>
              <a:t>n</a:t>
            </a:r>
            <a:r>
              <a:rPr lang="en-US" sz="2800" b="1" baseline="30000" dirty="0" smtClean="0"/>
              <a:t>0.51</a:t>
            </a:r>
            <a:r>
              <a:rPr lang="en-US" sz="2800" b="1" dirty="0" smtClean="0"/>
              <a:t>)</a:t>
            </a:r>
            <a:r>
              <a:rPr lang="en-US" sz="2800" dirty="0" smtClean="0"/>
              <a:t> </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Problem-04</a:t>
            </a:r>
            <a:endParaRPr lang="en-US" dirty="0"/>
          </a:p>
        </p:txBody>
      </p:sp>
      <p:sp>
        <p:nvSpPr>
          <p:cNvPr id="3" name="Content Placeholder 2"/>
          <p:cNvSpPr>
            <a:spLocks noGrp="1"/>
          </p:cNvSpPr>
          <p:nvPr>
            <p:ph idx="1"/>
          </p:nvPr>
        </p:nvSpPr>
        <p:spPr/>
        <p:txBody>
          <a:bodyPr>
            <a:normAutofit/>
          </a:bodyPr>
          <a:lstStyle/>
          <a:p>
            <a:pPr marL="514350" indent="-514350" algn="just" fontAlgn="base">
              <a:buNone/>
            </a:pPr>
            <a:r>
              <a:rPr lang="en-US" sz="2800" dirty="0" smtClean="0"/>
              <a:t>Solve the recurrence relation using Master’s Theorem-</a:t>
            </a:r>
          </a:p>
          <a:p>
            <a:pPr marL="514350" indent="-514350" algn="just" fontAlgn="base">
              <a:buNone/>
            </a:pPr>
            <a:r>
              <a:rPr lang="en-US" sz="2800" dirty="0" smtClean="0"/>
              <a:t>T(n) = √2T(n/2) + </a:t>
            </a:r>
            <a:r>
              <a:rPr lang="en-US" sz="2800" dirty="0" err="1" smtClean="0"/>
              <a:t>logn</a:t>
            </a:r>
            <a:endParaRPr lang="en-US" sz="2800" dirty="0" smtClean="0"/>
          </a:p>
          <a:p>
            <a:pPr marL="514350" indent="-514350" algn="just" fontAlgn="base">
              <a:buNone/>
            </a:pPr>
            <a:r>
              <a:rPr lang="en-US" sz="2800" dirty="0" smtClean="0"/>
              <a:t> On comparing the given recurrence relation with-</a:t>
            </a:r>
          </a:p>
          <a:p>
            <a:pPr marL="514350" indent="-514350" algn="just" fontAlgn="base">
              <a:buNone/>
            </a:pPr>
            <a:r>
              <a:rPr lang="en-US" sz="2800" dirty="0" smtClean="0"/>
              <a:t>T(n) = </a:t>
            </a:r>
            <a:r>
              <a:rPr lang="en-US" sz="2800" dirty="0" err="1" smtClean="0"/>
              <a:t>aT</a:t>
            </a:r>
            <a:r>
              <a:rPr lang="en-US" sz="2800" dirty="0" smtClean="0"/>
              <a:t>(n/b) + </a:t>
            </a:r>
            <a:r>
              <a:rPr lang="el-GR" sz="2800" dirty="0" smtClean="0"/>
              <a:t>θ (</a:t>
            </a:r>
            <a:r>
              <a:rPr lang="en-US" sz="2800" dirty="0" err="1" smtClean="0"/>
              <a:t>n</a:t>
            </a:r>
            <a:r>
              <a:rPr lang="en-US" sz="2800" baseline="30000" dirty="0" err="1" smtClean="0"/>
              <a:t>k</a:t>
            </a:r>
            <a:r>
              <a:rPr lang="en-US" sz="2800" dirty="0" err="1" smtClean="0"/>
              <a:t>log</a:t>
            </a:r>
            <a:r>
              <a:rPr lang="en-US" sz="2800" baseline="30000" dirty="0" err="1" smtClean="0"/>
              <a:t>p</a:t>
            </a:r>
            <a:r>
              <a:rPr lang="en-US" sz="2800" dirty="0" err="1" smtClean="0"/>
              <a:t>n</a:t>
            </a:r>
            <a:r>
              <a:rPr lang="en-US" sz="2800" dirty="0" smtClean="0"/>
              <a:t>)</a:t>
            </a:r>
          </a:p>
          <a:p>
            <a:pPr marL="514350" indent="-514350" algn="just" fontAlgn="base">
              <a:buNone/>
            </a:pPr>
            <a:r>
              <a:rPr lang="en-US" sz="2800" dirty="0" smtClean="0"/>
              <a:t>we have-</a:t>
            </a:r>
          </a:p>
          <a:p>
            <a:pPr marL="514350" indent="-514350" algn="just" fontAlgn="base">
              <a:buNone/>
            </a:pPr>
            <a:r>
              <a:rPr lang="en-US" sz="2800" dirty="0" smtClean="0"/>
              <a:t>a = √2	b = 2		k = 0		p = 1</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Problem-04</a:t>
            </a:r>
            <a:endParaRPr lang="en-US" dirty="0"/>
          </a:p>
        </p:txBody>
      </p:sp>
      <p:sp>
        <p:nvSpPr>
          <p:cNvPr id="3" name="Content Placeholder 2"/>
          <p:cNvSpPr>
            <a:spLocks noGrp="1"/>
          </p:cNvSpPr>
          <p:nvPr>
            <p:ph idx="1"/>
          </p:nvPr>
        </p:nvSpPr>
        <p:spPr/>
        <p:txBody>
          <a:bodyPr>
            <a:normAutofit fontScale="92500" lnSpcReduction="10000"/>
          </a:bodyPr>
          <a:lstStyle/>
          <a:p>
            <a:pPr marL="514350" indent="-514350" algn="just" fontAlgn="base">
              <a:buNone/>
            </a:pPr>
            <a:r>
              <a:rPr lang="en-US" sz="3000" dirty="0" smtClean="0"/>
              <a:t>Now, a = √2 = 1.414 and </a:t>
            </a:r>
            <a:r>
              <a:rPr lang="en-US" sz="3000" dirty="0" err="1" smtClean="0"/>
              <a:t>b</a:t>
            </a:r>
            <a:r>
              <a:rPr lang="en-US" sz="3000" baseline="30000" dirty="0" err="1" smtClean="0"/>
              <a:t>k</a:t>
            </a:r>
            <a:r>
              <a:rPr lang="en-US" sz="3000" dirty="0" smtClean="0"/>
              <a:t> = 2</a:t>
            </a:r>
            <a:r>
              <a:rPr lang="en-US" sz="3000" baseline="30000" dirty="0" smtClean="0"/>
              <a:t>0</a:t>
            </a:r>
            <a:r>
              <a:rPr lang="en-US" sz="3000" dirty="0" smtClean="0"/>
              <a:t> = 1.</a:t>
            </a:r>
          </a:p>
          <a:p>
            <a:pPr marL="514350" indent="-514350" algn="just" fontAlgn="base">
              <a:buNone/>
            </a:pPr>
            <a:r>
              <a:rPr lang="en-US" sz="3000" dirty="0" smtClean="0"/>
              <a:t>Clearly, a &gt; </a:t>
            </a:r>
            <a:r>
              <a:rPr lang="en-US" sz="3000" dirty="0" err="1" smtClean="0"/>
              <a:t>b</a:t>
            </a:r>
            <a:r>
              <a:rPr lang="en-US" sz="3000" baseline="30000" dirty="0" err="1" smtClean="0"/>
              <a:t>k</a:t>
            </a:r>
            <a:endParaRPr lang="en-US" sz="3000" dirty="0" smtClean="0"/>
          </a:p>
          <a:p>
            <a:pPr marL="514350" indent="-514350" algn="just" fontAlgn="base">
              <a:buNone/>
            </a:pPr>
            <a:r>
              <a:rPr lang="en-US" sz="3000" dirty="0" smtClean="0"/>
              <a:t>So, we follow case-01.</a:t>
            </a:r>
          </a:p>
          <a:p>
            <a:pPr marL="514350" indent="-514350" algn="just" fontAlgn="base">
              <a:buNone/>
            </a:pPr>
            <a:r>
              <a:rPr lang="en-US" sz="3000" dirty="0" smtClean="0"/>
              <a:t>So we have-</a:t>
            </a:r>
          </a:p>
          <a:p>
            <a:pPr marL="514350" indent="-514350" algn="just" fontAlgn="base">
              <a:buNone/>
            </a:pPr>
            <a:r>
              <a:rPr lang="en-US" sz="3000" dirty="0" smtClean="0"/>
              <a:t>T(n) = </a:t>
            </a:r>
            <a:r>
              <a:rPr lang="el-GR" sz="3000" dirty="0" smtClean="0"/>
              <a:t>θ (</a:t>
            </a:r>
            <a:r>
              <a:rPr lang="en-US" sz="3000" dirty="0" err="1" smtClean="0"/>
              <a:t>n</a:t>
            </a:r>
            <a:r>
              <a:rPr lang="en-US" sz="3000" baseline="30000" dirty="0" err="1" smtClean="0"/>
              <a:t>log</a:t>
            </a:r>
            <a:r>
              <a:rPr lang="en-US" sz="3000" baseline="-25000" dirty="0" err="1" smtClean="0"/>
              <a:t>b</a:t>
            </a:r>
            <a:r>
              <a:rPr lang="en-US" sz="3000" baseline="30000" dirty="0" err="1" smtClean="0"/>
              <a:t>a</a:t>
            </a:r>
            <a:r>
              <a:rPr lang="en-US" sz="3000" dirty="0" smtClean="0"/>
              <a:t>)</a:t>
            </a:r>
          </a:p>
          <a:p>
            <a:pPr marL="514350" indent="-514350" algn="just" fontAlgn="base">
              <a:buNone/>
            </a:pPr>
            <a:r>
              <a:rPr lang="en-US" sz="3000" dirty="0" smtClean="0"/>
              <a:t>T(n) = </a:t>
            </a:r>
            <a:r>
              <a:rPr lang="el-GR" sz="3000" dirty="0" smtClean="0"/>
              <a:t>θ (</a:t>
            </a:r>
            <a:r>
              <a:rPr lang="en-US" sz="3000" dirty="0" smtClean="0"/>
              <a:t>n</a:t>
            </a:r>
            <a:r>
              <a:rPr lang="en-US" sz="3000" baseline="30000" dirty="0" smtClean="0"/>
              <a:t>log</a:t>
            </a:r>
            <a:r>
              <a:rPr lang="en-US" sz="3000" baseline="-25000" dirty="0" smtClean="0"/>
              <a:t>2</a:t>
            </a:r>
            <a:r>
              <a:rPr lang="en-US" sz="3000" baseline="30000" dirty="0" smtClean="0"/>
              <a:t>√2</a:t>
            </a:r>
            <a:r>
              <a:rPr lang="en-US" sz="3000" dirty="0" smtClean="0"/>
              <a:t>)</a:t>
            </a:r>
          </a:p>
          <a:p>
            <a:pPr marL="514350" indent="-514350" algn="just" fontAlgn="base">
              <a:buNone/>
            </a:pPr>
            <a:r>
              <a:rPr lang="en-US" sz="3000" dirty="0" smtClean="0"/>
              <a:t>T(n) = </a:t>
            </a:r>
            <a:r>
              <a:rPr lang="el-GR" sz="3000" dirty="0" smtClean="0"/>
              <a:t>θ (</a:t>
            </a:r>
            <a:r>
              <a:rPr lang="en-US" sz="3000" dirty="0" smtClean="0"/>
              <a:t>n</a:t>
            </a:r>
            <a:r>
              <a:rPr lang="en-US" sz="3000" baseline="30000" dirty="0" smtClean="0"/>
              <a:t>1/2</a:t>
            </a:r>
            <a:r>
              <a:rPr lang="en-US" sz="3000" dirty="0" smtClean="0"/>
              <a:t>)</a:t>
            </a:r>
          </a:p>
          <a:p>
            <a:pPr marL="514350" indent="-514350" algn="just" fontAlgn="base">
              <a:buNone/>
            </a:pPr>
            <a:r>
              <a:rPr lang="en-US" sz="3000" dirty="0" smtClean="0"/>
              <a:t>Thus,</a:t>
            </a:r>
          </a:p>
          <a:p>
            <a:pPr marL="514350" indent="-514350" algn="just">
              <a:buNone/>
            </a:pPr>
            <a:r>
              <a:rPr lang="en-US" sz="3000" b="1" dirty="0" smtClean="0"/>
              <a:t>T(n) = </a:t>
            </a:r>
            <a:r>
              <a:rPr lang="el-GR" sz="3000" b="1" dirty="0" smtClean="0"/>
              <a:t>θ (√</a:t>
            </a:r>
            <a:r>
              <a:rPr lang="en-US" sz="3000" b="1" dirty="0" smtClean="0"/>
              <a:t>n)</a:t>
            </a:r>
            <a:endParaRPr lang="en-US" sz="3000" dirty="0" smtClean="0"/>
          </a:p>
          <a:p>
            <a:endParaRPr lang="en-US" dirty="0"/>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a:t>
            </a:r>
            <a:endParaRPr lang="en-US" dirty="0"/>
          </a:p>
        </p:txBody>
      </p:sp>
      <p:sp>
        <p:nvSpPr>
          <p:cNvPr id="3" name="Content Placeholder 2"/>
          <p:cNvSpPr>
            <a:spLocks noGrp="1"/>
          </p:cNvSpPr>
          <p:nvPr>
            <p:ph idx="1"/>
          </p:nvPr>
        </p:nvSpPr>
        <p:spPr/>
        <p:txBody>
          <a:bodyPr/>
          <a:lstStyle/>
          <a:p>
            <a:pPr algn="just"/>
            <a:r>
              <a:rPr lang="en-US" sz="2800" dirty="0" smtClean="0"/>
              <a:t>Heap sort is a sorting method discovered by J.W.J. Williams .It Works in 2 stages:-</a:t>
            </a:r>
          </a:p>
          <a:p>
            <a:pPr marL="514350" indent="-514350" algn="just">
              <a:buAutoNum type="arabicParenR"/>
            </a:pPr>
            <a:r>
              <a:rPr lang="en-US" sz="2800" dirty="0" smtClean="0"/>
              <a:t>Heap Construction</a:t>
            </a:r>
          </a:p>
          <a:p>
            <a:pPr marL="514350" indent="-514350" algn="just">
              <a:buAutoNum type="arabicParenR"/>
            </a:pPr>
            <a:r>
              <a:rPr lang="en-US" sz="2800" dirty="0" smtClean="0"/>
              <a:t>Deletion of maximum key.</a:t>
            </a:r>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 Algorithm</a:t>
            </a: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Algorithm Build_Max_Heap(A[n])</a:t>
            </a:r>
          </a:p>
          <a:p>
            <a:pPr algn="just">
              <a:buNone/>
            </a:pPr>
            <a:r>
              <a:rPr lang="en-US" sz="2800" dirty="0" smtClean="0"/>
              <a:t>{</a:t>
            </a:r>
          </a:p>
          <a:p>
            <a:pPr algn="just">
              <a:buNone/>
            </a:pPr>
            <a:r>
              <a:rPr lang="en-US" sz="2800" dirty="0" smtClean="0"/>
              <a:t>//Problem Description: This algorithm builds the heap satisfying maximum heap property</a:t>
            </a:r>
          </a:p>
          <a:p>
            <a:pPr algn="just">
              <a:buNone/>
            </a:pPr>
            <a:r>
              <a:rPr lang="en-US" sz="2800" dirty="0" err="1" smtClean="0"/>
              <a:t>A.Heapsize</a:t>
            </a:r>
            <a:r>
              <a:rPr lang="en-US" sz="2800" dirty="0" smtClean="0"/>
              <a:t>=</a:t>
            </a:r>
            <a:r>
              <a:rPr lang="en-US" sz="2800" dirty="0" err="1" smtClean="0"/>
              <a:t>A.Heaplength</a:t>
            </a:r>
            <a:r>
              <a:rPr lang="en-US" sz="2800" dirty="0" smtClean="0"/>
              <a:t>;</a:t>
            </a:r>
          </a:p>
          <a:p>
            <a:pPr algn="just">
              <a:buNone/>
            </a:pPr>
            <a:r>
              <a:rPr lang="en-US" sz="2800" dirty="0" smtClean="0"/>
              <a:t>for </a:t>
            </a:r>
            <a:r>
              <a:rPr lang="en-US" sz="2800" dirty="0" err="1" smtClean="0"/>
              <a:t>i</a:t>
            </a:r>
            <a:r>
              <a:rPr lang="en-US" sz="2800" dirty="0" smtClean="0"/>
              <a:t> &lt;- [length[A]/2] down to 1</a:t>
            </a:r>
          </a:p>
          <a:p>
            <a:pPr algn="just">
              <a:buNone/>
            </a:pPr>
            <a:r>
              <a:rPr lang="en-US" sz="2800" dirty="0" smtClean="0"/>
              <a:t>	</a:t>
            </a:r>
            <a:r>
              <a:rPr lang="en-US" sz="2800" dirty="0" err="1" smtClean="0"/>
              <a:t>Max_heapify</a:t>
            </a:r>
            <a:r>
              <a:rPr lang="en-US" sz="2800" dirty="0" smtClean="0"/>
              <a:t>(</a:t>
            </a:r>
            <a:r>
              <a:rPr lang="en-US" sz="2800" dirty="0" err="1" smtClean="0"/>
              <a:t>A,i</a:t>
            </a:r>
            <a:r>
              <a:rPr lang="en-US" sz="2800" dirty="0" smtClean="0"/>
              <a:t>);</a:t>
            </a:r>
          </a:p>
          <a:p>
            <a:pPr algn="just">
              <a:buNone/>
            </a:pPr>
            <a:r>
              <a:rPr lang="en-US" sz="2800" dirty="0" smtClean="0"/>
              <a:t>}</a:t>
            </a:r>
            <a:endParaRPr lang="en-US" sz="2800" dirty="0"/>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 Algorithm</a:t>
            </a: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Algorithm </a:t>
            </a:r>
            <a:r>
              <a:rPr lang="en-US" sz="2800" dirty="0" err="1" smtClean="0"/>
              <a:t>Max_Heapify</a:t>
            </a:r>
            <a:r>
              <a:rPr lang="en-US" sz="2800" dirty="0" smtClean="0"/>
              <a:t>(A[n], </a:t>
            </a:r>
            <a:r>
              <a:rPr lang="en-US" sz="2800" dirty="0" err="1" smtClean="0"/>
              <a:t>i</a:t>
            </a:r>
            <a:r>
              <a:rPr lang="en-US" sz="2800" dirty="0" smtClean="0"/>
              <a:t>)</a:t>
            </a:r>
          </a:p>
          <a:p>
            <a:pPr algn="just">
              <a:buNone/>
            </a:pPr>
            <a:r>
              <a:rPr lang="en-US" sz="2800" dirty="0" smtClean="0"/>
              <a:t>{</a:t>
            </a:r>
          </a:p>
          <a:p>
            <a:pPr algn="just">
              <a:buNone/>
            </a:pPr>
            <a:r>
              <a:rPr lang="en-US" sz="2800" dirty="0" smtClean="0"/>
              <a:t>	L=2*</a:t>
            </a:r>
            <a:r>
              <a:rPr lang="en-US" sz="2800" dirty="0" err="1" smtClean="0"/>
              <a:t>i</a:t>
            </a:r>
            <a:r>
              <a:rPr lang="en-US" sz="2800" dirty="0" smtClean="0"/>
              <a:t>;</a:t>
            </a:r>
          </a:p>
          <a:p>
            <a:pPr algn="just">
              <a:buNone/>
            </a:pPr>
            <a:r>
              <a:rPr lang="en-US" sz="2800" dirty="0" smtClean="0"/>
              <a:t>	R=2*i+1;</a:t>
            </a:r>
          </a:p>
          <a:p>
            <a:pPr algn="just">
              <a:buNone/>
            </a:pPr>
            <a:r>
              <a:rPr lang="en-US" sz="2800" dirty="0" smtClean="0"/>
              <a:t>	if(L&lt;=A.Heapsize and A[L]&gt;A[</a:t>
            </a:r>
            <a:r>
              <a:rPr lang="en-US" sz="2800" dirty="0" err="1" smtClean="0"/>
              <a:t>i</a:t>
            </a:r>
            <a:r>
              <a:rPr lang="en-US" sz="2800" dirty="0" smtClean="0"/>
              <a:t>])</a:t>
            </a:r>
          </a:p>
          <a:p>
            <a:pPr algn="just">
              <a:buNone/>
            </a:pPr>
            <a:r>
              <a:rPr lang="en-US" sz="2800" dirty="0" smtClean="0"/>
              <a:t>		Largest=L;</a:t>
            </a:r>
          </a:p>
          <a:p>
            <a:pPr algn="just">
              <a:buNone/>
            </a:pPr>
            <a:r>
              <a:rPr lang="en-US" sz="2800" dirty="0" smtClean="0"/>
              <a:t>	else</a:t>
            </a:r>
          </a:p>
          <a:p>
            <a:pPr algn="just">
              <a:buNone/>
            </a:pPr>
            <a:r>
              <a:rPr lang="en-US" sz="2800" dirty="0" smtClean="0"/>
              <a:t>		 Largest=</a:t>
            </a:r>
            <a:r>
              <a:rPr lang="en-US" sz="2800" dirty="0" err="1" smtClean="0"/>
              <a:t>i</a:t>
            </a:r>
            <a:r>
              <a:rPr lang="en-US" sz="2800" dirty="0" smtClean="0"/>
              <a:t>;</a:t>
            </a:r>
          </a:p>
          <a:p>
            <a:pPr>
              <a:buNone/>
            </a:pPr>
            <a:endParaRPr lang="en-US" sz="2800" dirty="0" smtClean="0"/>
          </a:p>
          <a:p>
            <a:pPr>
              <a:buNone/>
            </a:pPr>
            <a:endParaRPr lang="en-US" dirty="0"/>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Heap sort Algorithm</a:t>
            </a: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	if(R&lt;=A.Heapsize and A[R]&gt;A[Largest])</a:t>
            </a:r>
          </a:p>
          <a:p>
            <a:pPr algn="just">
              <a:buNone/>
            </a:pPr>
            <a:r>
              <a:rPr lang="en-US" sz="2800" dirty="0" smtClean="0"/>
              <a:t>		Largest=R;</a:t>
            </a:r>
          </a:p>
          <a:p>
            <a:pPr algn="just">
              <a:buNone/>
            </a:pPr>
            <a:r>
              <a:rPr lang="en-US" sz="2800" dirty="0" smtClean="0"/>
              <a:t>	if( A[Largest] ≠ A[</a:t>
            </a:r>
            <a:r>
              <a:rPr lang="en-US" sz="2800" dirty="0" err="1" smtClean="0"/>
              <a:t>i</a:t>
            </a:r>
            <a:r>
              <a:rPr lang="en-US" sz="2800" dirty="0" smtClean="0"/>
              <a:t>])</a:t>
            </a:r>
          </a:p>
          <a:p>
            <a:pPr algn="just">
              <a:buNone/>
            </a:pPr>
            <a:r>
              <a:rPr lang="en-US" sz="2800" dirty="0" smtClean="0"/>
              <a:t>	{</a:t>
            </a:r>
          </a:p>
          <a:p>
            <a:pPr algn="just">
              <a:buNone/>
            </a:pPr>
            <a:r>
              <a:rPr lang="en-US" sz="2800" dirty="0" smtClean="0"/>
              <a:t>		Swap(A[</a:t>
            </a:r>
            <a:r>
              <a:rPr lang="en-US" sz="2800" dirty="0" err="1" smtClean="0"/>
              <a:t>i</a:t>
            </a:r>
            <a:r>
              <a:rPr lang="en-US" sz="2800" dirty="0" smtClean="0"/>
              <a:t>] ,A[Largest] );</a:t>
            </a:r>
          </a:p>
          <a:p>
            <a:pPr algn="just">
              <a:buNone/>
            </a:pPr>
            <a:r>
              <a:rPr lang="en-US" sz="2800" dirty="0" smtClean="0"/>
              <a:t>		 Max_heapify(</a:t>
            </a:r>
            <a:r>
              <a:rPr lang="en-US" sz="2800" dirty="0" err="1" smtClean="0"/>
              <a:t>A,Largest</a:t>
            </a:r>
            <a:r>
              <a:rPr lang="en-US" sz="2800" dirty="0" smtClean="0"/>
              <a:t>);</a:t>
            </a:r>
          </a:p>
          <a:p>
            <a:pPr algn="just">
              <a:buNone/>
            </a:pPr>
            <a:r>
              <a:rPr lang="en-US" sz="2800" dirty="0" smtClean="0"/>
              <a:t>}</a:t>
            </a:r>
          </a:p>
          <a:p>
            <a:pPr>
              <a:buNone/>
            </a:pPr>
            <a:endParaRPr lang="en-US" sz="2800" dirty="0" smtClean="0"/>
          </a:p>
          <a:p>
            <a:pPr>
              <a:buNone/>
            </a:pPr>
            <a:endParaRPr lang="en-US" dirty="0"/>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Algorithm</a:t>
            </a:r>
            <a:endParaRPr lang="en-US" dirty="0"/>
          </a:p>
        </p:txBody>
      </p:sp>
      <p:sp>
        <p:nvSpPr>
          <p:cNvPr id="3" name="Content Placeholder 2"/>
          <p:cNvSpPr>
            <a:spLocks noGrp="1"/>
          </p:cNvSpPr>
          <p:nvPr>
            <p:ph idx="1"/>
          </p:nvPr>
        </p:nvSpPr>
        <p:spPr/>
        <p:txBody>
          <a:bodyPr>
            <a:noAutofit/>
          </a:bodyPr>
          <a:lstStyle/>
          <a:p>
            <a:pPr algn="just">
              <a:buNone/>
            </a:pPr>
            <a:r>
              <a:rPr lang="en-US" dirty="0" smtClean="0"/>
              <a:t>Merge _sort(A, p, r)</a:t>
            </a:r>
          </a:p>
          <a:p>
            <a:pPr algn="just">
              <a:buNone/>
            </a:pPr>
            <a:r>
              <a:rPr lang="en-US" dirty="0" smtClean="0"/>
              <a:t>{	if(p&lt;r)</a:t>
            </a:r>
          </a:p>
          <a:p>
            <a:pPr lvl="1" algn="just">
              <a:buNone/>
            </a:pPr>
            <a:r>
              <a:rPr lang="en-US" dirty="0" smtClean="0"/>
              <a:t>	{</a:t>
            </a:r>
          </a:p>
          <a:p>
            <a:pPr lvl="1" algn="just">
              <a:buNone/>
            </a:pPr>
            <a:r>
              <a:rPr lang="en-US" dirty="0" smtClean="0"/>
              <a:t>			q=[(</a:t>
            </a:r>
            <a:r>
              <a:rPr lang="en-US" dirty="0" err="1" smtClean="0"/>
              <a:t>p+r</a:t>
            </a:r>
            <a:r>
              <a:rPr lang="en-US" dirty="0" smtClean="0"/>
              <a:t>) /2];</a:t>
            </a:r>
          </a:p>
          <a:p>
            <a:pPr lvl="1">
              <a:buNone/>
            </a:pPr>
            <a:r>
              <a:rPr lang="en-US" dirty="0" smtClean="0"/>
              <a:t>			Merge _sort(A, p, q);</a:t>
            </a:r>
          </a:p>
          <a:p>
            <a:pPr lvl="1" algn="just">
              <a:buNone/>
            </a:pPr>
            <a:r>
              <a:rPr lang="en-US" dirty="0" smtClean="0"/>
              <a:t>			Merge _sort(A, q+1, r);</a:t>
            </a:r>
          </a:p>
          <a:p>
            <a:pPr lvl="1" algn="just">
              <a:buNone/>
            </a:pPr>
            <a:r>
              <a:rPr lang="en-US" dirty="0" smtClean="0"/>
              <a:t>			Merge(A , p, q ,r  );</a:t>
            </a:r>
          </a:p>
          <a:p>
            <a:pPr lvl="1" algn="just">
              <a:buNone/>
            </a:pPr>
            <a:r>
              <a:rPr lang="en-US" dirty="0" smtClean="0"/>
              <a:t>} </a:t>
            </a:r>
          </a:p>
          <a:p>
            <a:pPr algn="just">
              <a:buNone/>
            </a:pPr>
            <a:r>
              <a:rPr lang="en-US" dirty="0" smtClean="0"/>
              <a:t>}</a:t>
            </a:r>
            <a:endParaRPr lang="en-US" dirty="0"/>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Algorithm</a:t>
            </a:r>
            <a:endParaRPr lang="en-US" dirty="0"/>
          </a:p>
        </p:txBody>
      </p:sp>
      <p:sp>
        <p:nvSpPr>
          <p:cNvPr id="3" name="Content Placeholder 2"/>
          <p:cNvSpPr>
            <a:spLocks noGrp="1"/>
          </p:cNvSpPr>
          <p:nvPr>
            <p:ph idx="1"/>
          </p:nvPr>
        </p:nvSpPr>
        <p:spPr>
          <a:xfrm>
            <a:off x="381000" y="1600200"/>
            <a:ext cx="8229600" cy="4525963"/>
          </a:xfrm>
        </p:spPr>
        <p:txBody>
          <a:bodyPr>
            <a:noAutofit/>
          </a:bodyPr>
          <a:lstStyle/>
          <a:p>
            <a:pPr algn="just">
              <a:buNone/>
            </a:pPr>
            <a:r>
              <a:rPr lang="en-US" sz="2800" dirty="0" smtClean="0"/>
              <a:t>Merge (A, p, q,  r)</a:t>
            </a:r>
          </a:p>
          <a:p>
            <a:pPr algn="just">
              <a:buNone/>
            </a:pPr>
            <a:r>
              <a:rPr lang="en-US" sz="2800" dirty="0" smtClean="0"/>
              <a:t>{	</a:t>
            </a:r>
          </a:p>
          <a:p>
            <a:pPr algn="just">
              <a:buNone/>
            </a:pPr>
            <a:r>
              <a:rPr lang="en-US" sz="2800" dirty="0" smtClean="0"/>
              <a:t>	n1=q-p+1; 	n2=r-q;</a:t>
            </a:r>
          </a:p>
          <a:p>
            <a:pPr algn="just">
              <a:buNone/>
            </a:pPr>
            <a:r>
              <a:rPr lang="en-US" sz="2800" dirty="0" smtClean="0"/>
              <a:t>	let L1=[1-----n1+1] and L2=[1------n2+1];</a:t>
            </a:r>
          </a:p>
          <a:p>
            <a:pPr algn="just">
              <a:buNone/>
            </a:pPr>
            <a:r>
              <a:rPr lang="en-US" sz="2800" dirty="0" smtClean="0"/>
              <a:t>	for(</a:t>
            </a:r>
            <a:r>
              <a:rPr lang="en-US" sz="2800" dirty="0" err="1" smtClean="0"/>
              <a:t>i</a:t>
            </a:r>
            <a:r>
              <a:rPr lang="en-US" sz="2800" dirty="0" smtClean="0"/>
              <a:t> =1 to n1)</a:t>
            </a:r>
          </a:p>
          <a:p>
            <a:pPr algn="just">
              <a:buNone/>
            </a:pPr>
            <a:r>
              <a:rPr lang="en-US" sz="2800" dirty="0" smtClean="0"/>
              <a:t>		L[</a:t>
            </a:r>
            <a:r>
              <a:rPr lang="en-US" sz="2800" dirty="0" err="1" smtClean="0"/>
              <a:t>i</a:t>
            </a:r>
            <a:r>
              <a:rPr lang="en-US" sz="2800" dirty="0" smtClean="0"/>
              <a:t>]=A[p+i-1];</a:t>
            </a:r>
          </a:p>
          <a:p>
            <a:pPr algn="just">
              <a:buNone/>
            </a:pPr>
            <a:r>
              <a:rPr lang="en-US" sz="2800" dirty="0" smtClean="0"/>
              <a:t>	for(j =1 to n2)</a:t>
            </a:r>
          </a:p>
          <a:p>
            <a:pPr algn="just">
              <a:buNone/>
            </a:pPr>
            <a:r>
              <a:rPr lang="en-US" sz="2800" dirty="0" smtClean="0"/>
              <a:t>		R[j]=A[</a:t>
            </a:r>
            <a:r>
              <a:rPr lang="en-US" sz="2800" dirty="0" err="1" smtClean="0"/>
              <a:t>q+j</a:t>
            </a:r>
            <a:r>
              <a:rPr lang="en-US" sz="2800" dirty="0" smtClean="0"/>
              <a:t>];</a:t>
            </a:r>
          </a:p>
          <a:p>
            <a:pPr algn="just">
              <a:buNone/>
            </a:pPr>
            <a:r>
              <a:rPr lang="en-US" dirty="0" smtClean="0"/>
              <a:t>L[n1+1]=∞    R[n2+1]=∞</a:t>
            </a:r>
            <a:endParaRPr lang="en-US" dirty="0"/>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Merge sort Algorithm</a:t>
            </a:r>
            <a:endParaRPr lang="en-US" dirty="0"/>
          </a:p>
        </p:txBody>
      </p:sp>
      <p:sp>
        <p:nvSpPr>
          <p:cNvPr id="3" name="Content Placeholder 2"/>
          <p:cNvSpPr>
            <a:spLocks noGrp="1"/>
          </p:cNvSpPr>
          <p:nvPr>
            <p:ph idx="1"/>
          </p:nvPr>
        </p:nvSpPr>
        <p:spPr>
          <a:xfrm>
            <a:off x="381000" y="1600200"/>
            <a:ext cx="8229600" cy="4525963"/>
          </a:xfrm>
        </p:spPr>
        <p:txBody>
          <a:bodyPr>
            <a:noAutofit/>
          </a:bodyPr>
          <a:lstStyle/>
          <a:p>
            <a:pPr algn="just">
              <a:buNone/>
            </a:pPr>
            <a:r>
              <a:rPr lang="en-US" sz="2800" dirty="0" err="1" smtClean="0"/>
              <a:t>i</a:t>
            </a:r>
            <a:r>
              <a:rPr lang="en-US" sz="2800" dirty="0" smtClean="0"/>
              <a:t>=1 , j=1;</a:t>
            </a:r>
          </a:p>
          <a:p>
            <a:pPr algn="just">
              <a:buNone/>
            </a:pPr>
            <a:r>
              <a:rPr lang="en-US" sz="2800" dirty="0" smtClean="0"/>
              <a:t>for(k=p to r)</a:t>
            </a:r>
          </a:p>
          <a:p>
            <a:pPr algn="just">
              <a:buNone/>
            </a:pPr>
            <a:r>
              <a:rPr lang="en-US" sz="2800" dirty="0" smtClean="0"/>
              <a:t>if(L[</a:t>
            </a:r>
            <a:r>
              <a:rPr lang="en-US" sz="2800" dirty="0" err="1" smtClean="0"/>
              <a:t>i</a:t>
            </a:r>
            <a:r>
              <a:rPr lang="en-US" sz="2800" dirty="0" smtClean="0"/>
              <a:t>]&lt;R[j])</a:t>
            </a:r>
          </a:p>
          <a:p>
            <a:pPr algn="just">
              <a:buNone/>
            </a:pPr>
            <a:r>
              <a:rPr lang="en-US" sz="2800" dirty="0" smtClean="0"/>
              <a:t>	A[k]=L[</a:t>
            </a:r>
            <a:r>
              <a:rPr lang="en-US" sz="2800" dirty="0" err="1" smtClean="0"/>
              <a:t>i</a:t>
            </a:r>
            <a:r>
              <a:rPr lang="en-US" sz="2800" dirty="0" smtClean="0"/>
              <a:t>];</a:t>
            </a:r>
          </a:p>
          <a:p>
            <a:pPr algn="just">
              <a:buNone/>
            </a:pPr>
            <a:r>
              <a:rPr lang="en-US" sz="2800" dirty="0" smtClean="0"/>
              <a:t>	</a:t>
            </a:r>
            <a:r>
              <a:rPr lang="en-US" sz="2800" dirty="0" err="1" smtClean="0"/>
              <a:t>i</a:t>
            </a:r>
            <a:r>
              <a:rPr lang="en-US" sz="2800" dirty="0" smtClean="0"/>
              <a:t>=i+1;</a:t>
            </a:r>
          </a:p>
          <a:p>
            <a:pPr algn="just">
              <a:buNone/>
            </a:pPr>
            <a:r>
              <a:rPr lang="en-US" sz="2800" dirty="0" smtClean="0"/>
              <a:t>else</a:t>
            </a:r>
          </a:p>
          <a:p>
            <a:pPr algn="just">
              <a:buNone/>
            </a:pPr>
            <a:r>
              <a:rPr lang="en-US" sz="2800" dirty="0" smtClean="0"/>
              <a:t>A[k]=R[j]</a:t>
            </a:r>
          </a:p>
          <a:p>
            <a:pPr algn="just">
              <a:buNone/>
            </a:pPr>
            <a:r>
              <a:rPr lang="en-US" sz="2800" dirty="0" smtClean="0"/>
              <a:t>J=j+1;</a:t>
            </a:r>
          </a:p>
          <a:p>
            <a:pPr algn="just">
              <a:buNone/>
            </a:pPr>
            <a:r>
              <a:rPr lang="en-US" sz="2800" dirty="0" smtClean="0"/>
              <a:t>}</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Normal Matrix Multiplication</a:t>
            </a:r>
            <a:endParaRPr lang="en-US" sz="4000" dirty="0"/>
          </a:p>
        </p:txBody>
      </p:sp>
      <p:sp>
        <p:nvSpPr>
          <p:cNvPr id="3" name="Content Placeholder 2"/>
          <p:cNvSpPr>
            <a:spLocks noGrp="1"/>
          </p:cNvSpPr>
          <p:nvPr>
            <p:ph idx="1"/>
          </p:nvPr>
        </p:nvSpPr>
        <p:spPr>
          <a:xfrm>
            <a:off x="457200" y="1600200"/>
            <a:ext cx="8229600" cy="4876800"/>
          </a:xfrm>
        </p:spPr>
        <p:txBody>
          <a:bodyPr>
            <a:normAutofit fontScale="55000" lnSpcReduction="20000"/>
          </a:bodyPr>
          <a:lstStyle/>
          <a:p>
            <a:pPr algn="just">
              <a:buNone/>
            </a:pPr>
            <a:r>
              <a:rPr lang="en-US" sz="5100" dirty="0" smtClean="0"/>
              <a:t>void multiply(</a:t>
            </a:r>
            <a:r>
              <a:rPr lang="en-US" sz="5100" dirty="0" err="1" smtClean="0"/>
              <a:t>int</a:t>
            </a:r>
            <a:r>
              <a:rPr lang="en-US" sz="5100" dirty="0" smtClean="0"/>
              <a:t> A[][N], </a:t>
            </a:r>
            <a:r>
              <a:rPr lang="en-US" sz="5100" dirty="0" err="1" smtClean="0"/>
              <a:t>int</a:t>
            </a:r>
            <a:r>
              <a:rPr lang="en-US" sz="5100" dirty="0" smtClean="0"/>
              <a:t> B[][N], </a:t>
            </a:r>
            <a:r>
              <a:rPr lang="en-US" sz="5100" dirty="0" err="1" smtClean="0"/>
              <a:t>int</a:t>
            </a:r>
            <a:r>
              <a:rPr lang="en-US" sz="5100" dirty="0" smtClean="0"/>
              <a:t> C[][N]) </a:t>
            </a:r>
          </a:p>
          <a:p>
            <a:pPr algn="just">
              <a:buNone/>
            </a:pPr>
            <a:r>
              <a:rPr lang="en-US" sz="5100" dirty="0" smtClean="0"/>
              <a:t>{     for (</a:t>
            </a:r>
            <a:r>
              <a:rPr lang="en-US" sz="5100" dirty="0" err="1" smtClean="0"/>
              <a:t>int</a:t>
            </a:r>
            <a:r>
              <a:rPr lang="en-US" sz="5100" dirty="0" smtClean="0"/>
              <a:t> </a:t>
            </a:r>
            <a:r>
              <a:rPr lang="en-US" sz="5100" dirty="0" err="1" smtClean="0"/>
              <a:t>i</a:t>
            </a:r>
            <a:r>
              <a:rPr lang="en-US" sz="5100" dirty="0" smtClean="0"/>
              <a:t> = 0; </a:t>
            </a:r>
            <a:r>
              <a:rPr lang="en-US" sz="5100" dirty="0" err="1" smtClean="0"/>
              <a:t>i</a:t>
            </a:r>
            <a:r>
              <a:rPr lang="en-US" sz="5100" dirty="0" smtClean="0"/>
              <a:t> &lt; N; </a:t>
            </a:r>
            <a:r>
              <a:rPr lang="en-US" sz="5100" dirty="0" err="1" smtClean="0"/>
              <a:t>i</a:t>
            </a:r>
            <a:r>
              <a:rPr lang="en-US" sz="5100" dirty="0" smtClean="0"/>
              <a:t>++) </a:t>
            </a:r>
          </a:p>
          <a:p>
            <a:pPr algn="just">
              <a:buNone/>
            </a:pPr>
            <a:r>
              <a:rPr lang="en-US" sz="5100" dirty="0" smtClean="0"/>
              <a:t>    { 	for (</a:t>
            </a:r>
            <a:r>
              <a:rPr lang="en-US" sz="5100" dirty="0" err="1" smtClean="0"/>
              <a:t>int</a:t>
            </a:r>
            <a:r>
              <a:rPr lang="en-US" sz="5100" dirty="0" smtClean="0"/>
              <a:t> j = 0; j &lt; N; j++) </a:t>
            </a:r>
          </a:p>
          <a:p>
            <a:pPr algn="just">
              <a:buNone/>
            </a:pPr>
            <a:r>
              <a:rPr lang="en-US" sz="5100" dirty="0" smtClean="0"/>
              <a:t>        { 	C[</a:t>
            </a:r>
            <a:r>
              <a:rPr lang="en-US" sz="5100" dirty="0" err="1" smtClean="0"/>
              <a:t>i</a:t>
            </a:r>
            <a:r>
              <a:rPr lang="en-US" sz="5100" dirty="0" smtClean="0"/>
              <a:t>][j] = 0; </a:t>
            </a:r>
          </a:p>
          <a:p>
            <a:pPr algn="just">
              <a:buNone/>
            </a:pPr>
            <a:r>
              <a:rPr lang="en-US" sz="5100" dirty="0" smtClean="0"/>
              <a:t>            for (</a:t>
            </a:r>
            <a:r>
              <a:rPr lang="en-US" sz="5100" dirty="0" err="1" smtClean="0"/>
              <a:t>int</a:t>
            </a:r>
            <a:r>
              <a:rPr lang="en-US" sz="5100" dirty="0" smtClean="0"/>
              <a:t> k = 0; k &lt; N; k++) </a:t>
            </a:r>
          </a:p>
          <a:p>
            <a:pPr algn="just">
              <a:buNone/>
            </a:pPr>
            <a:r>
              <a:rPr lang="en-US" sz="5100" dirty="0" smtClean="0"/>
              <a:t>            { 	C[</a:t>
            </a:r>
            <a:r>
              <a:rPr lang="en-US" sz="5100" dirty="0" err="1" smtClean="0"/>
              <a:t>i</a:t>
            </a:r>
            <a:r>
              <a:rPr lang="en-US" sz="5100" dirty="0" smtClean="0"/>
              <a:t>][j] += A[</a:t>
            </a:r>
            <a:r>
              <a:rPr lang="en-US" sz="5100" dirty="0" err="1" smtClean="0"/>
              <a:t>i</a:t>
            </a:r>
            <a:r>
              <a:rPr lang="en-US" sz="5100" dirty="0" smtClean="0"/>
              <a:t>][k]*B[k][j]; </a:t>
            </a:r>
          </a:p>
          <a:p>
            <a:pPr algn="just">
              <a:buNone/>
            </a:pPr>
            <a:r>
              <a:rPr lang="en-US" sz="5100" dirty="0" smtClean="0"/>
              <a:t>            } </a:t>
            </a:r>
          </a:p>
          <a:p>
            <a:pPr algn="just">
              <a:buNone/>
            </a:pPr>
            <a:r>
              <a:rPr lang="en-US" sz="5100" dirty="0" smtClean="0"/>
              <a:t>        } </a:t>
            </a:r>
          </a:p>
          <a:p>
            <a:pPr algn="just">
              <a:buNone/>
            </a:pPr>
            <a:r>
              <a:rPr lang="en-US" sz="5100" dirty="0" smtClean="0"/>
              <a:t>    } </a:t>
            </a:r>
          </a:p>
          <a:p>
            <a:pPr algn="just">
              <a:buNone/>
            </a:pPr>
            <a:r>
              <a:rPr lang="en-US" sz="5100" dirty="0" smtClean="0"/>
              <a:t>} </a:t>
            </a:r>
          </a:p>
          <a:p>
            <a:pPr algn="just">
              <a:buNone/>
            </a:pPr>
            <a:r>
              <a:rPr lang="en-US" sz="5100" dirty="0" smtClean="0"/>
              <a:t>Time Complexity of above method is O(N</a:t>
            </a:r>
            <a:r>
              <a:rPr lang="en-US" sz="5100" baseline="30000" dirty="0" smtClean="0"/>
              <a:t>3</a:t>
            </a:r>
            <a:r>
              <a:rPr lang="en-US" sz="5100" dirty="0" smtClean="0"/>
              <a:t>). </a:t>
            </a:r>
          </a:p>
          <a:p>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t>Divide and Conquer</a:t>
            </a:r>
          </a:p>
        </p:txBody>
      </p:sp>
      <p:sp>
        <p:nvSpPr>
          <p:cNvPr id="3" name="Content Placeholder 2"/>
          <p:cNvSpPr>
            <a:spLocks noGrp="1"/>
          </p:cNvSpPr>
          <p:nvPr>
            <p:ph idx="1"/>
          </p:nvPr>
        </p:nvSpPr>
        <p:spPr/>
        <p:txBody>
          <a:bodyPr>
            <a:normAutofit/>
          </a:bodyPr>
          <a:lstStyle/>
          <a:p>
            <a:pPr algn="just">
              <a:buNone/>
            </a:pPr>
            <a:r>
              <a:rPr lang="en-US" sz="2800" dirty="0" smtClean="0"/>
              <a:t>Following is simple Divide and Conquer method to multiply two square matrices.</a:t>
            </a:r>
            <a:br>
              <a:rPr lang="en-US" sz="2800" dirty="0" smtClean="0"/>
            </a:br>
            <a:r>
              <a:rPr lang="en-US" sz="2800" dirty="0" smtClean="0"/>
              <a:t>1) Divide matrices A and B in 4 sub-matrices of size N/2 x N/2 as shown in the below diagram.</a:t>
            </a:r>
            <a:br>
              <a:rPr lang="en-US" sz="2800" dirty="0" smtClean="0"/>
            </a:br>
            <a:r>
              <a:rPr lang="en-US" sz="2800" dirty="0" smtClean="0"/>
              <a:t>2) Calculate following values recursively. </a:t>
            </a:r>
          </a:p>
          <a:p>
            <a:pPr algn="just">
              <a:buNone/>
            </a:pPr>
            <a:r>
              <a:rPr lang="en-US" sz="2800" dirty="0" err="1" smtClean="0"/>
              <a:t>ae</a:t>
            </a:r>
            <a:r>
              <a:rPr lang="en-US" sz="2800" dirty="0" smtClean="0"/>
              <a:t> + </a:t>
            </a:r>
            <a:r>
              <a:rPr lang="en-US" sz="2800" dirty="0" err="1" smtClean="0"/>
              <a:t>bg</a:t>
            </a:r>
            <a:r>
              <a:rPr lang="en-US" sz="2800" dirty="0" smtClean="0"/>
              <a:t>, </a:t>
            </a:r>
            <a:r>
              <a:rPr lang="en-US" sz="2800" dirty="0" err="1" smtClean="0"/>
              <a:t>af</a:t>
            </a:r>
            <a:r>
              <a:rPr lang="en-US" sz="2800" dirty="0" smtClean="0"/>
              <a:t> + </a:t>
            </a:r>
            <a:r>
              <a:rPr lang="en-US" sz="2800" dirty="0" err="1" smtClean="0"/>
              <a:t>bh</a:t>
            </a:r>
            <a:r>
              <a:rPr lang="en-US" sz="2800" dirty="0" smtClean="0"/>
              <a:t>, </a:t>
            </a:r>
            <a:r>
              <a:rPr lang="en-US" sz="2800" dirty="0" err="1" smtClean="0"/>
              <a:t>ce</a:t>
            </a:r>
            <a:r>
              <a:rPr lang="en-US" sz="2800" dirty="0" smtClean="0"/>
              <a:t> + dg and </a:t>
            </a:r>
            <a:r>
              <a:rPr lang="en-US" sz="2800" dirty="0" err="1" smtClean="0"/>
              <a:t>cf</a:t>
            </a:r>
            <a:r>
              <a:rPr lang="en-US" sz="2800" dirty="0" smtClean="0"/>
              <a:t> + dh. </a:t>
            </a:r>
            <a:endParaRPr lang="en-US" sz="2800" dirty="0"/>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Divide and Conquer</a:t>
            </a:r>
            <a:endParaRPr lang="en-US" dirty="0"/>
          </a:p>
        </p:txBody>
      </p:sp>
      <p:pic>
        <p:nvPicPr>
          <p:cNvPr id="4" name="Content Placeholder 3" descr="strassen_new.png"/>
          <p:cNvPicPr>
            <a:picLocks noGrp="1" noChangeAspect="1"/>
          </p:cNvPicPr>
          <p:nvPr>
            <p:ph idx="1"/>
          </p:nvPr>
        </p:nvPicPr>
        <p:blipFill>
          <a:blip r:embed="rId2"/>
          <a:stretch>
            <a:fillRect/>
          </a:stretch>
        </p:blipFill>
        <p:spPr>
          <a:xfrm>
            <a:off x="609600" y="1752600"/>
            <a:ext cx="8001000" cy="3581399"/>
          </a:xfr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Divide and Conquer</a:t>
            </a: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In the above method, we do 8 multiplications for matrices of size N/2 x N/2 and 4 additions. Addition of two matrices takes O(N</a:t>
            </a:r>
            <a:r>
              <a:rPr lang="en-US" sz="2800" baseline="30000" dirty="0" smtClean="0"/>
              <a:t>2</a:t>
            </a:r>
            <a:r>
              <a:rPr lang="en-US" sz="2800" dirty="0" smtClean="0"/>
              <a:t>) time. So the time complexity can be written as </a:t>
            </a:r>
          </a:p>
          <a:p>
            <a:pPr algn="just">
              <a:buNone/>
            </a:pPr>
            <a:r>
              <a:rPr lang="en-US" sz="2800" dirty="0" smtClean="0"/>
              <a:t>T(N) = 8T(N/2) + O(N</a:t>
            </a:r>
            <a:r>
              <a:rPr lang="en-US" sz="2800" baseline="30000" dirty="0" smtClean="0"/>
              <a:t>2</a:t>
            </a:r>
            <a:r>
              <a:rPr lang="en-US" sz="2800" dirty="0" smtClean="0"/>
              <a:t>)</a:t>
            </a:r>
          </a:p>
          <a:p>
            <a:pPr algn="just">
              <a:buNone/>
            </a:pPr>
            <a:r>
              <a:rPr lang="en-US" sz="2800" dirty="0" smtClean="0"/>
              <a:t> From </a:t>
            </a:r>
            <a:r>
              <a:rPr lang="en-US" sz="2800" dirty="0" smtClean="0">
                <a:hlinkClick r:id="rId2"/>
              </a:rPr>
              <a:t>Master's Theorem</a:t>
            </a:r>
            <a:r>
              <a:rPr lang="en-US" sz="2800" dirty="0" smtClean="0"/>
              <a:t>, time complexity of above method is O(N</a:t>
            </a:r>
            <a:r>
              <a:rPr lang="en-US" sz="2800" baseline="30000" dirty="0" smtClean="0"/>
              <a:t>3</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sz="4900" dirty="0" err="1" smtClean="0"/>
              <a:t>Strassen’s</a:t>
            </a:r>
            <a:r>
              <a:rPr lang="en-US" sz="4900" dirty="0" smtClean="0"/>
              <a:t> Matrix Multiplication</a:t>
            </a:r>
            <a:r>
              <a:rPr lang="en-US" b="1" dirty="0" smtClean="0"/>
              <a:t/>
            </a:r>
            <a:br>
              <a:rPr lang="en-US" b="1" dirty="0" smtClean="0"/>
            </a:b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In the above divide and conquer method, the main component for high time complexity is 8 recursive calls. The idea of</a:t>
            </a:r>
            <a:r>
              <a:rPr lang="en-US" sz="2800" b="1" dirty="0" smtClean="0"/>
              <a:t> </a:t>
            </a:r>
            <a:r>
              <a:rPr lang="en-US" sz="2800" b="1" dirty="0" err="1" smtClean="0"/>
              <a:t>Strassen’s</a:t>
            </a:r>
            <a:r>
              <a:rPr lang="en-US" sz="2800" b="1" dirty="0" smtClean="0"/>
              <a:t> method</a:t>
            </a:r>
            <a:r>
              <a:rPr lang="en-US" sz="2800" dirty="0" smtClean="0"/>
              <a:t> is to reduce the number of recursive calls to 7. </a:t>
            </a:r>
            <a:r>
              <a:rPr lang="en-US" sz="2800" dirty="0" err="1" smtClean="0"/>
              <a:t>Strassen’s</a:t>
            </a:r>
            <a:r>
              <a:rPr lang="en-US" sz="2800" dirty="0" smtClean="0"/>
              <a:t> method is similar to above simple divide and conquer method in the sense that this method also divide matrices to sub-matrices of size N/2 x N/2 </a:t>
            </a:r>
            <a:endParaRPr lang="en-US" sz="2800"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Strassen’s</a:t>
            </a:r>
            <a:r>
              <a:rPr lang="en-US" dirty="0" smtClean="0"/>
              <a:t> Matrix Multiplication</a:t>
            </a:r>
            <a:endParaRPr lang="en-US" dirty="0"/>
          </a:p>
        </p:txBody>
      </p:sp>
      <p:sp>
        <p:nvSpPr>
          <p:cNvPr id="3" name="Content Placeholder 2"/>
          <p:cNvSpPr>
            <a:spLocks noGrp="1"/>
          </p:cNvSpPr>
          <p:nvPr>
            <p:ph idx="1"/>
          </p:nvPr>
        </p:nvSpPr>
        <p:spPr/>
        <p:txBody>
          <a:bodyPr>
            <a:normAutofit/>
          </a:bodyPr>
          <a:lstStyle/>
          <a:p>
            <a:pPr algn="just">
              <a:buNone/>
            </a:pPr>
            <a:r>
              <a:rPr lang="en-US" sz="2800" dirty="0" smtClean="0"/>
              <a:t>In </a:t>
            </a:r>
            <a:r>
              <a:rPr lang="en-US" sz="2800" dirty="0" err="1" smtClean="0"/>
              <a:t>Strassen’s</a:t>
            </a:r>
            <a:r>
              <a:rPr lang="en-US" sz="2800" dirty="0" smtClean="0"/>
              <a:t> method, the four sub-matrices of result are calculated using following formulae.</a:t>
            </a:r>
            <a:endParaRPr lang="en-US" sz="2800" dirty="0"/>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Strassen’s</a:t>
            </a:r>
            <a:r>
              <a:rPr lang="en-US" dirty="0" smtClean="0"/>
              <a:t> Matrix Multiplication</a:t>
            </a:r>
            <a:endParaRPr lang="en-US" dirty="0"/>
          </a:p>
        </p:txBody>
      </p:sp>
      <p:sp>
        <p:nvSpPr>
          <p:cNvPr id="3" name="Content Placeholder 2"/>
          <p:cNvSpPr>
            <a:spLocks noGrp="1"/>
          </p:cNvSpPr>
          <p:nvPr>
            <p:ph idx="1"/>
          </p:nvPr>
        </p:nvSpPr>
        <p:spPr/>
        <p:txBody>
          <a:bodyPr/>
          <a:lstStyle/>
          <a:p>
            <a:pPr algn="just">
              <a:buNone/>
            </a:pPr>
            <a:endParaRPr lang="en-US" dirty="0"/>
          </a:p>
        </p:txBody>
      </p:sp>
      <p:pic>
        <p:nvPicPr>
          <p:cNvPr id="4" name="Picture 3" descr="stressen_formula_new_new.png"/>
          <p:cNvPicPr>
            <a:picLocks noChangeAspect="1"/>
          </p:cNvPicPr>
          <p:nvPr/>
        </p:nvPicPr>
        <p:blipFill>
          <a:blip r:embed="rId2"/>
          <a:stretch>
            <a:fillRect/>
          </a:stretch>
        </p:blipFill>
        <p:spPr>
          <a:xfrm>
            <a:off x="381000" y="1600200"/>
            <a:ext cx="8382000" cy="5044604"/>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Time Complexity of </a:t>
            </a:r>
            <a:r>
              <a:rPr lang="en-US" dirty="0" err="1" smtClean="0"/>
              <a:t>Strassen’s</a:t>
            </a:r>
            <a:r>
              <a:rPr lang="en-US" dirty="0" smtClean="0"/>
              <a:t> Method</a:t>
            </a:r>
          </a:p>
        </p:txBody>
      </p:sp>
      <p:sp>
        <p:nvSpPr>
          <p:cNvPr id="3" name="Content Placeholder 2"/>
          <p:cNvSpPr>
            <a:spLocks noGrp="1"/>
          </p:cNvSpPr>
          <p:nvPr>
            <p:ph idx="1"/>
          </p:nvPr>
        </p:nvSpPr>
        <p:spPr/>
        <p:txBody>
          <a:bodyPr>
            <a:normAutofit/>
          </a:bodyPr>
          <a:lstStyle/>
          <a:p>
            <a:pPr algn="just">
              <a:buNone/>
            </a:pPr>
            <a:r>
              <a:rPr lang="en-US" sz="2800" dirty="0" smtClean="0"/>
              <a:t>Addition and Subtraction of two matrices takes O(N</a:t>
            </a:r>
            <a:r>
              <a:rPr lang="en-US" sz="2800" baseline="30000" dirty="0" smtClean="0"/>
              <a:t>2</a:t>
            </a:r>
            <a:r>
              <a:rPr lang="en-US" sz="2800" dirty="0" smtClean="0"/>
              <a:t>) time. </a:t>
            </a:r>
          </a:p>
          <a:p>
            <a:pPr algn="just">
              <a:buNone/>
            </a:pPr>
            <a:r>
              <a:rPr lang="en-US" sz="2800" dirty="0" smtClean="0"/>
              <a:t>So time complexity can be written as </a:t>
            </a:r>
          </a:p>
          <a:p>
            <a:pPr algn="just">
              <a:buNone/>
            </a:pPr>
            <a:r>
              <a:rPr lang="en-US" sz="2800" dirty="0" smtClean="0"/>
              <a:t>T(N) = 7T(N/2) + O(N</a:t>
            </a:r>
            <a:r>
              <a:rPr lang="en-US" sz="2800" baseline="30000" dirty="0" smtClean="0"/>
              <a:t>2</a:t>
            </a:r>
            <a:r>
              <a:rPr lang="en-US" sz="2800" dirty="0" smtClean="0"/>
              <a:t>) </a:t>
            </a:r>
          </a:p>
          <a:p>
            <a:pPr algn="just">
              <a:buNone/>
            </a:pPr>
            <a:r>
              <a:rPr lang="en-US" sz="2800" dirty="0" smtClean="0"/>
              <a:t>From </a:t>
            </a:r>
            <a:r>
              <a:rPr lang="en-US" sz="2800" dirty="0" smtClean="0">
                <a:hlinkClick r:id="rId2"/>
              </a:rPr>
              <a:t>Master's Theorem</a:t>
            </a:r>
            <a:r>
              <a:rPr lang="en-US" sz="2800" dirty="0" smtClean="0"/>
              <a:t>, time complexity of above method is O(N</a:t>
            </a:r>
            <a:r>
              <a:rPr lang="en-US" sz="2800" baseline="30000" dirty="0" smtClean="0"/>
              <a:t>Log7</a:t>
            </a:r>
            <a:r>
              <a:rPr lang="en-US" sz="2800" dirty="0" smtClean="0"/>
              <a:t>) which is approximately O(N</a:t>
            </a:r>
            <a:r>
              <a:rPr lang="en-US" sz="2800" baseline="30000" dirty="0" smtClean="0"/>
              <a:t>2.8074</a:t>
            </a:r>
            <a:r>
              <a:rPr lang="en-US" sz="2800" dirty="0" smtClean="0"/>
              <a:t>)</a:t>
            </a:r>
            <a:endParaRPr lang="en-US" sz="2800"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
            </a:r>
            <a:br>
              <a:rPr lang="en-US" dirty="0" smtClean="0"/>
            </a:br>
            <a:r>
              <a:rPr lang="en-US" dirty="0" smtClean="0"/>
              <a:t>Example of 4×4 </a:t>
            </a:r>
            <a:r>
              <a:rPr lang="en-US" dirty="0" err="1" smtClean="0"/>
              <a:t>Strassen’s</a:t>
            </a:r>
            <a:r>
              <a:rPr lang="en-US" dirty="0" smtClean="0"/>
              <a:t> matrix</a:t>
            </a:r>
            <a:br>
              <a:rPr lang="en-US" dirty="0" smtClean="0"/>
            </a:br>
            <a:endParaRPr lang="en-US" dirty="0" smtClean="0"/>
          </a:p>
        </p:txBody>
      </p:sp>
      <p:sp>
        <p:nvSpPr>
          <p:cNvPr id="3" name="Content Placeholder 2"/>
          <p:cNvSpPr>
            <a:spLocks noGrp="1"/>
          </p:cNvSpPr>
          <p:nvPr>
            <p:ph idx="1"/>
          </p:nvPr>
        </p:nvSpPr>
        <p:spPr/>
        <p:txBody>
          <a:bodyPr/>
          <a:lstStyle/>
          <a:p>
            <a:r>
              <a:rPr lang="en-US" dirty="0" smtClean="0"/>
              <a:t>Consider a matrix which is of order 4×4, we need to find its multiplication.</a:t>
            </a:r>
          </a:p>
          <a:p>
            <a:endParaRPr lang="en-US" dirty="0"/>
          </a:p>
        </p:txBody>
      </p:sp>
      <p:pic>
        <p:nvPicPr>
          <p:cNvPr id="5" name="Picture 4" descr="Untitled1 matrix.jpg"/>
          <p:cNvPicPr>
            <a:picLocks noChangeAspect="1"/>
          </p:cNvPicPr>
          <p:nvPr/>
        </p:nvPicPr>
        <p:blipFill>
          <a:blip r:embed="rId2"/>
          <a:stretch>
            <a:fillRect/>
          </a:stretch>
        </p:blipFill>
        <p:spPr>
          <a:xfrm>
            <a:off x="762000" y="3048000"/>
            <a:ext cx="3581400" cy="3124200"/>
          </a:xfrm>
          <a:prstGeom prst="rect">
            <a:avLst/>
          </a:prstGeom>
        </p:spPr>
      </p:pic>
      <p:pic>
        <p:nvPicPr>
          <p:cNvPr id="7" name="Picture 6" descr="STRASSENS-MATRIX-MULTIPLICATION-4x4.png"/>
          <p:cNvPicPr>
            <a:picLocks noChangeAspect="1"/>
          </p:cNvPicPr>
          <p:nvPr/>
        </p:nvPicPr>
        <p:blipFill>
          <a:blip r:embed="rId3"/>
          <a:stretch>
            <a:fillRect/>
          </a:stretch>
        </p:blipFill>
        <p:spPr>
          <a:xfrm>
            <a:off x="4419600" y="3200400"/>
            <a:ext cx="3962400" cy="28194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t/>
            </a:r>
            <a:br>
              <a:rPr lang="en-US" dirty="0" smtClean="0"/>
            </a:br>
            <a:r>
              <a:rPr lang="en-US" dirty="0" smtClean="0"/>
              <a:t>Example of 4×4 </a:t>
            </a:r>
            <a:r>
              <a:rPr lang="en-US" dirty="0" err="1" smtClean="0"/>
              <a:t>Strassen’s</a:t>
            </a:r>
            <a:r>
              <a:rPr lang="en-US" dirty="0" smtClean="0"/>
              <a:t> matrix</a:t>
            </a:r>
            <a:br>
              <a:rPr lang="en-US" dirty="0" smtClean="0"/>
            </a:br>
            <a:endParaRPr lang="en-US" dirty="0" smtClean="0"/>
          </a:p>
        </p:txBody>
      </p:sp>
      <p:sp>
        <p:nvSpPr>
          <p:cNvPr id="3" name="Content Placeholder 2"/>
          <p:cNvSpPr>
            <a:spLocks noGrp="1"/>
          </p:cNvSpPr>
          <p:nvPr>
            <p:ph idx="1"/>
          </p:nvPr>
        </p:nvSpPr>
        <p:spPr/>
        <p:txBody>
          <a:bodyPr/>
          <a:lstStyle/>
          <a:p>
            <a:pPr>
              <a:buNone/>
            </a:pPr>
            <a:r>
              <a:rPr lang="en-US" sz="2800" b="1" dirty="0" smtClean="0"/>
              <a:t>Step 1: </a:t>
            </a:r>
            <a:r>
              <a:rPr lang="en-US" sz="2800" dirty="0" smtClean="0"/>
              <a:t>Firstly divide A &amp; B into 4 sub equivalent parts</a:t>
            </a:r>
            <a:r>
              <a:rPr lang="en-US" dirty="0" smtClean="0"/>
              <a:t>.</a:t>
            </a:r>
            <a:endParaRPr lang="en-US" dirty="0"/>
          </a:p>
        </p:txBody>
      </p:sp>
      <p:pic>
        <p:nvPicPr>
          <p:cNvPr id="5" name="Picture 4" descr="1.png"/>
          <p:cNvPicPr>
            <a:picLocks noChangeAspect="1"/>
          </p:cNvPicPr>
          <p:nvPr/>
        </p:nvPicPr>
        <p:blipFill>
          <a:blip r:embed="rId2"/>
          <a:stretch>
            <a:fillRect/>
          </a:stretch>
        </p:blipFill>
        <p:spPr>
          <a:xfrm>
            <a:off x="990600" y="2209800"/>
            <a:ext cx="6629400" cy="4552720"/>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normAutofit/>
          </a:bodyPr>
          <a:lstStyle/>
          <a:p>
            <a:pPr>
              <a:buNone/>
            </a:pPr>
            <a:r>
              <a:rPr lang="en-US" sz="2800" b="1" dirty="0" smtClean="0"/>
              <a:t>Step 2: </a:t>
            </a:r>
            <a:r>
              <a:rPr lang="en-US" sz="2800" dirty="0" smtClean="0"/>
              <a:t>Write this matrix in the form of four 2×2 matrices and name them accordingly like A1, A2, A3, A4, B1, B2, B3, B4</a:t>
            </a:r>
            <a:endParaRPr lang="en-US" sz="2800" dirty="0"/>
          </a:p>
        </p:txBody>
      </p:sp>
      <p:pic>
        <p:nvPicPr>
          <p:cNvPr id="4" name="Picture 3" descr="STRASSENS-MATRIX 2.png"/>
          <p:cNvPicPr>
            <a:picLocks noChangeAspect="1"/>
          </p:cNvPicPr>
          <p:nvPr/>
        </p:nvPicPr>
        <p:blipFill>
          <a:blip r:embed="rId2"/>
          <a:stretch>
            <a:fillRect/>
          </a:stretch>
        </p:blipFill>
        <p:spPr>
          <a:xfrm>
            <a:off x="1066800" y="3048000"/>
            <a:ext cx="6477000" cy="3684791"/>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pic>
        <p:nvPicPr>
          <p:cNvPr id="5" name="Content Placeholder 4" descr="STRASSENS-MATRIX-MULTIPLICATION 3.png"/>
          <p:cNvPicPr>
            <a:picLocks noGrp="1" noChangeAspect="1"/>
          </p:cNvPicPr>
          <p:nvPr>
            <p:ph idx="1"/>
          </p:nvPr>
        </p:nvPicPr>
        <p:blipFill>
          <a:blip r:embed="rId2"/>
          <a:stretch>
            <a:fillRect/>
          </a:stretch>
        </p:blipFill>
        <p:spPr>
          <a:xfrm>
            <a:off x="838200" y="1676400"/>
            <a:ext cx="7467600" cy="5074139"/>
          </a:xfr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pPr algn="just">
              <a:buNone/>
            </a:pPr>
            <a:r>
              <a:rPr lang="en-US" sz="2800" b="1" dirty="0" smtClean="0"/>
              <a:t>Step 3: </a:t>
            </a:r>
            <a:r>
              <a:rPr lang="en-US" sz="2800" dirty="0" smtClean="0"/>
              <a:t>Finally we need to find the multiplications of these matrices one by one in such a way that</a:t>
            </a:r>
          </a:p>
          <a:p>
            <a:pPr algn="just">
              <a:buNone/>
            </a:pPr>
            <a:r>
              <a:rPr lang="en-US" sz="2800" dirty="0" smtClean="0"/>
              <a:t>C1 = A1.B1</a:t>
            </a:r>
          </a:p>
          <a:p>
            <a:pPr algn="just">
              <a:buNone/>
            </a:pPr>
            <a:r>
              <a:rPr lang="en-US" sz="2800" dirty="0" smtClean="0"/>
              <a:t>C2 = A2.B2</a:t>
            </a:r>
          </a:p>
          <a:p>
            <a:pPr algn="just">
              <a:buNone/>
            </a:pPr>
            <a:r>
              <a:rPr lang="en-US" sz="2800" dirty="0" smtClean="0"/>
              <a:t>C3 = A3.B3</a:t>
            </a:r>
          </a:p>
          <a:p>
            <a:pPr algn="just">
              <a:buNone/>
            </a:pPr>
            <a:r>
              <a:rPr lang="en-US" sz="2800" dirty="0" smtClean="0"/>
              <a:t>C4 = A4.B4</a:t>
            </a:r>
          </a:p>
          <a:p>
            <a:endParaRPr lang="en-US" dirty="0"/>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pPr algn="just">
              <a:buNone/>
            </a:pPr>
            <a:r>
              <a:rPr lang="en-US" sz="2800" dirty="0" smtClean="0"/>
              <a:t>So for C1, take consider the matrix A1 &amp; B1</a:t>
            </a:r>
          </a:p>
          <a:p>
            <a:pPr algn="just">
              <a:buNone/>
            </a:pPr>
            <a:r>
              <a:rPr lang="en-US" sz="2800" dirty="0" smtClean="0"/>
              <a:t>We know C1 = A1.B1</a:t>
            </a:r>
          </a:p>
          <a:p>
            <a:endParaRPr lang="en-US" dirty="0"/>
          </a:p>
        </p:txBody>
      </p:sp>
      <p:pic>
        <p:nvPicPr>
          <p:cNvPr id="5" name="Picture 4" descr="strassens-matrix-4.png"/>
          <p:cNvPicPr>
            <a:picLocks noChangeAspect="1"/>
          </p:cNvPicPr>
          <p:nvPr/>
        </p:nvPicPr>
        <p:blipFill>
          <a:blip r:embed="rId2"/>
          <a:stretch>
            <a:fillRect/>
          </a:stretch>
        </p:blipFill>
        <p:spPr>
          <a:xfrm>
            <a:off x="685800" y="2667000"/>
            <a:ext cx="7391400" cy="2755276"/>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normAutofit/>
          </a:bodyPr>
          <a:lstStyle/>
          <a:p>
            <a:pPr>
              <a:buNone/>
            </a:pPr>
            <a:r>
              <a:rPr lang="pt-BR" sz="2800" dirty="0" smtClean="0"/>
              <a:t>So,</a:t>
            </a:r>
          </a:p>
          <a:p>
            <a:pPr>
              <a:buNone/>
            </a:pPr>
            <a:r>
              <a:rPr lang="pt-BR" sz="2800" b="1" dirty="0" smtClean="0"/>
              <a:t>P1=</a:t>
            </a:r>
            <a:r>
              <a:rPr lang="pt-BR" sz="2800" dirty="0" smtClean="0"/>
              <a:t> a*(f – h) = 3*(6-3) = 9</a:t>
            </a:r>
          </a:p>
          <a:p>
            <a:pPr>
              <a:buNone/>
            </a:pPr>
            <a:r>
              <a:rPr lang="pt-BR" sz="2800" b="1" dirty="0" smtClean="0"/>
              <a:t>P2 = </a:t>
            </a:r>
            <a:r>
              <a:rPr lang="pt-BR" sz="2800" dirty="0" smtClean="0"/>
              <a:t>h*(a + b) = 3*(3+2) = 15</a:t>
            </a:r>
          </a:p>
          <a:p>
            <a:pPr>
              <a:buNone/>
            </a:pPr>
            <a:r>
              <a:rPr lang="pt-BR" sz="2800" b="1" dirty="0" smtClean="0"/>
              <a:t>P3 = </a:t>
            </a:r>
            <a:r>
              <a:rPr lang="pt-BR" sz="2800" dirty="0" smtClean="0"/>
              <a:t>e*(c + d) =  5*(5+6) = 55</a:t>
            </a:r>
          </a:p>
          <a:p>
            <a:pPr>
              <a:buNone/>
            </a:pPr>
            <a:r>
              <a:rPr lang="pt-BR" sz="2800" b="1" dirty="0" smtClean="0"/>
              <a:t>P4 = </a:t>
            </a:r>
            <a:r>
              <a:rPr lang="pt-BR" sz="2800" dirty="0" smtClean="0"/>
              <a:t>d*(g – e) = 6*(1-5) = -24</a:t>
            </a:r>
          </a:p>
          <a:p>
            <a:pPr>
              <a:buNone/>
            </a:pPr>
            <a:r>
              <a:rPr lang="pt-BR" sz="2800" b="1" dirty="0" smtClean="0"/>
              <a:t>P5 = </a:t>
            </a:r>
            <a:r>
              <a:rPr lang="pt-BR" sz="2800" dirty="0" smtClean="0"/>
              <a:t>(a + d)*(e + h)= (3+6)*(5+3) = 72</a:t>
            </a:r>
          </a:p>
          <a:p>
            <a:pPr>
              <a:buNone/>
            </a:pPr>
            <a:r>
              <a:rPr lang="pt-BR" sz="2800" b="1" dirty="0" smtClean="0"/>
              <a:t>P6 = </a:t>
            </a:r>
            <a:r>
              <a:rPr lang="pt-BR" sz="2800" dirty="0" smtClean="0"/>
              <a:t>(b – d)*(g + h)= (2-6)*(1+3) = -16</a:t>
            </a:r>
          </a:p>
          <a:p>
            <a:pPr>
              <a:buNone/>
            </a:pPr>
            <a:r>
              <a:rPr lang="pt-BR" sz="2800" b="1" dirty="0" smtClean="0"/>
              <a:t>P7 = </a:t>
            </a:r>
            <a:r>
              <a:rPr lang="pt-BR" sz="2800" dirty="0" smtClean="0"/>
              <a:t>(a – c)*(e + f)= (</a:t>
            </a:r>
            <a:r>
              <a:rPr lang="pt-BR" sz="2800" smtClean="0"/>
              <a:t>3-5)*(</a:t>
            </a:r>
            <a:r>
              <a:rPr lang="pt-BR" sz="2800" dirty="0" smtClean="0"/>
              <a:t>5+6) = -22</a:t>
            </a:r>
          </a:p>
          <a:p>
            <a:pPr>
              <a:buNone/>
            </a:pPr>
            <a:endParaRPr lang="en-US" sz="28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r>
              <a:rPr lang="en-US" dirty="0" smtClean="0"/>
              <a:t>We know,</a:t>
            </a:r>
          </a:p>
          <a:p>
            <a:endParaRPr lang="en-US" dirty="0" smtClean="0"/>
          </a:p>
          <a:p>
            <a:endParaRPr lang="en-US" dirty="0" smtClean="0"/>
          </a:p>
          <a:p>
            <a:endParaRPr lang="en-US" dirty="0" smtClean="0"/>
          </a:p>
          <a:p>
            <a:endParaRPr lang="en-US" dirty="0" smtClean="0"/>
          </a:p>
          <a:p>
            <a:r>
              <a:rPr lang="en-US" dirty="0" smtClean="0"/>
              <a:t>So here,</a:t>
            </a:r>
          </a:p>
          <a:p>
            <a:endParaRPr lang="en-US" dirty="0"/>
          </a:p>
        </p:txBody>
      </p:sp>
      <p:pic>
        <p:nvPicPr>
          <p:cNvPr id="4" name="Picture 3" descr="5.png"/>
          <p:cNvPicPr>
            <a:picLocks noChangeAspect="1"/>
          </p:cNvPicPr>
          <p:nvPr/>
        </p:nvPicPr>
        <p:blipFill>
          <a:blip r:embed="rId2"/>
          <a:stretch>
            <a:fillRect/>
          </a:stretch>
        </p:blipFill>
        <p:spPr>
          <a:xfrm>
            <a:off x="1447800" y="2209800"/>
            <a:ext cx="5791200" cy="1828800"/>
          </a:xfrm>
          <a:prstGeom prst="rect">
            <a:avLst/>
          </a:prstGeom>
        </p:spPr>
      </p:pic>
      <p:pic>
        <p:nvPicPr>
          <p:cNvPr id="5" name="Picture 4" descr="6.png"/>
          <p:cNvPicPr>
            <a:picLocks noChangeAspect="1"/>
          </p:cNvPicPr>
          <p:nvPr/>
        </p:nvPicPr>
        <p:blipFill>
          <a:blip r:embed="rId3"/>
          <a:stretch>
            <a:fillRect/>
          </a:stretch>
        </p:blipFill>
        <p:spPr>
          <a:xfrm>
            <a:off x="2514600" y="4495800"/>
            <a:ext cx="4419600" cy="1724266"/>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pPr algn="just">
              <a:buNone/>
            </a:pPr>
            <a:r>
              <a:rPr lang="en-US" sz="2800" dirty="0" smtClean="0"/>
              <a:t>Now for C2, take consider the matrix A2 &amp; B2</a:t>
            </a:r>
          </a:p>
          <a:p>
            <a:pPr algn="just">
              <a:buNone/>
            </a:pPr>
            <a:r>
              <a:rPr lang="en-US" sz="2800" dirty="0" smtClean="0"/>
              <a:t>We know C2 = A2.B2</a:t>
            </a:r>
            <a:endParaRPr lang="en-US" dirty="0" smtClean="0"/>
          </a:p>
          <a:p>
            <a:endParaRPr lang="en-US" dirty="0"/>
          </a:p>
        </p:txBody>
      </p:sp>
      <p:pic>
        <p:nvPicPr>
          <p:cNvPr id="4" name="Picture 3" descr="7.png"/>
          <p:cNvPicPr>
            <a:picLocks noChangeAspect="1"/>
          </p:cNvPicPr>
          <p:nvPr/>
        </p:nvPicPr>
        <p:blipFill>
          <a:blip r:embed="rId2"/>
          <a:stretch>
            <a:fillRect/>
          </a:stretch>
        </p:blipFill>
        <p:spPr>
          <a:xfrm>
            <a:off x="457200" y="2895600"/>
            <a:ext cx="7696200" cy="2743200"/>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normAutofit/>
          </a:bodyPr>
          <a:lstStyle/>
          <a:p>
            <a:pPr algn="just">
              <a:buNone/>
            </a:pPr>
            <a:r>
              <a:rPr lang="pt-BR" sz="2800" dirty="0" smtClean="0"/>
              <a:t>Similarly here we have,</a:t>
            </a:r>
          </a:p>
          <a:p>
            <a:pPr algn="just">
              <a:buNone/>
            </a:pPr>
            <a:r>
              <a:rPr lang="pt-BR" sz="2800" b="1" dirty="0" smtClean="0"/>
              <a:t>P1=</a:t>
            </a:r>
            <a:r>
              <a:rPr lang="pt-BR" sz="2800" dirty="0" smtClean="0"/>
              <a:t> a * ( f – h ) = 1</a:t>
            </a:r>
          </a:p>
          <a:p>
            <a:pPr algn="just">
              <a:buNone/>
            </a:pPr>
            <a:r>
              <a:rPr lang="pt-BR" sz="2800" b="1" dirty="0" smtClean="0"/>
              <a:t>P2 = </a:t>
            </a:r>
            <a:r>
              <a:rPr lang="pt-BR" sz="2800" dirty="0" smtClean="0"/>
              <a:t>h * ( a + b ) = 0</a:t>
            </a:r>
          </a:p>
          <a:p>
            <a:pPr algn="just">
              <a:buNone/>
            </a:pPr>
            <a:r>
              <a:rPr lang="pt-BR" sz="2800" b="1" dirty="0" smtClean="0"/>
              <a:t>P3 = </a:t>
            </a:r>
            <a:r>
              <a:rPr lang="pt-BR" sz="2800" dirty="0" smtClean="0"/>
              <a:t>e * ( c + d ) = 63</a:t>
            </a:r>
          </a:p>
          <a:p>
            <a:pPr algn="just">
              <a:buNone/>
            </a:pPr>
            <a:r>
              <a:rPr lang="pt-BR" sz="2800" b="1" dirty="0" smtClean="0"/>
              <a:t>P4 = </a:t>
            </a:r>
            <a:r>
              <a:rPr lang="pt-BR" sz="2800" dirty="0" smtClean="0"/>
              <a:t>d * ( g – e ) = -35</a:t>
            </a:r>
          </a:p>
          <a:p>
            <a:pPr algn="just">
              <a:buNone/>
            </a:pPr>
            <a:r>
              <a:rPr lang="pt-BR" sz="2800" b="1" dirty="0" smtClean="0"/>
              <a:t>P5 = </a:t>
            </a:r>
            <a:r>
              <a:rPr lang="pt-BR" sz="2800" dirty="0" smtClean="0"/>
              <a:t>( a + d ) * ( e + h ) = 56</a:t>
            </a:r>
          </a:p>
          <a:p>
            <a:pPr algn="just">
              <a:buNone/>
            </a:pPr>
            <a:r>
              <a:rPr lang="pt-BR" sz="2800" b="1" dirty="0" smtClean="0"/>
              <a:t>P6 = </a:t>
            </a:r>
            <a:r>
              <a:rPr lang="pt-BR" sz="2800" dirty="0" smtClean="0"/>
              <a:t>( b – d ) * ( g + h ) = -14</a:t>
            </a:r>
          </a:p>
          <a:p>
            <a:pPr algn="just">
              <a:buNone/>
            </a:pPr>
            <a:r>
              <a:rPr lang="pt-BR" sz="2800" b="1" dirty="0" smtClean="0"/>
              <a:t>P7 = </a:t>
            </a:r>
            <a:r>
              <a:rPr lang="pt-BR" sz="2800" dirty="0" smtClean="0"/>
              <a:t>( a – c ) * ( e + f ) = -8</a:t>
            </a:r>
          </a:p>
          <a:p>
            <a:endParaRPr lang="en-US" dirty="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r>
              <a:rPr lang="en-US" dirty="0" smtClean="0"/>
              <a:t>Similarly,</a:t>
            </a:r>
          </a:p>
          <a:p>
            <a:endParaRPr lang="en-US" dirty="0" smtClean="0"/>
          </a:p>
          <a:p>
            <a:endParaRPr lang="en-US" dirty="0" smtClean="0"/>
          </a:p>
          <a:p>
            <a:endParaRPr lang="en-US" dirty="0" smtClean="0"/>
          </a:p>
          <a:p>
            <a:r>
              <a:rPr lang="en-US" dirty="0" smtClean="0"/>
              <a:t>So, C2 becomes,</a:t>
            </a:r>
          </a:p>
          <a:p>
            <a:endParaRPr lang="en-US" dirty="0"/>
          </a:p>
        </p:txBody>
      </p:sp>
      <p:pic>
        <p:nvPicPr>
          <p:cNvPr id="4" name="Picture 3" descr="1.png"/>
          <p:cNvPicPr>
            <a:picLocks noChangeAspect="1"/>
          </p:cNvPicPr>
          <p:nvPr/>
        </p:nvPicPr>
        <p:blipFill>
          <a:blip r:embed="rId2"/>
          <a:stretch>
            <a:fillRect/>
          </a:stretch>
        </p:blipFill>
        <p:spPr>
          <a:xfrm>
            <a:off x="838200" y="2286000"/>
            <a:ext cx="7086600" cy="1648055"/>
          </a:xfrm>
          <a:prstGeom prst="rect">
            <a:avLst/>
          </a:prstGeom>
        </p:spPr>
      </p:pic>
      <p:pic>
        <p:nvPicPr>
          <p:cNvPr id="5" name="Picture 4" descr="2.png"/>
          <p:cNvPicPr>
            <a:picLocks noChangeAspect="1"/>
          </p:cNvPicPr>
          <p:nvPr/>
        </p:nvPicPr>
        <p:blipFill>
          <a:blip r:embed="rId3"/>
          <a:stretch>
            <a:fillRect/>
          </a:stretch>
        </p:blipFill>
        <p:spPr>
          <a:xfrm>
            <a:off x="1371600" y="4648200"/>
            <a:ext cx="3962400" cy="1724266"/>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a:xfrm>
            <a:off x="457200" y="1600200"/>
            <a:ext cx="8229600" cy="4724400"/>
          </a:xfrm>
        </p:spPr>
        <p:txBody>
          <a:bodyPr>
            <a:normAutofit fontScale="25000" lnSpcReduction="20000"/>
          </a:bodyPr>
          <a:lstStyle/>
          <a:p>
            <a:pPr algn="just">
              <a:buNone/>
            </a:pPr>
            <a:r>
              <a:rPr lang="en-US" sz="11200" dirty="0" smtClean="0"/>
              <a:t>For C3, We have to consider A3 &amp; B3 and implement it in the form of C3=A3.B3.</a:t>
            </a:r>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endParaRPr lang="en-US" sz="2800" dirty="0" smtClean="0"/>
          </a:p>
          <a:p>
            <a:pPr algn="just">
              <a:buNone/>
            </a:pPr>
            <a:endParaRPr lang="en-US" sz="8600" dirty="0" smtClean="0"/>
          </a:p>
          <a:p>
            <a:pPr algn="just">
              <a:buNone/>
            </a:pPr>
            <a:endParaRPr lang="en-US" sz="8600" dirty="0" smtClean="0"/>
          </a:p>
          <a:p>
            <a:pPr algn="just">
              <a:buNone/>
            </a:pPr>
            <a:r>
              <a:rPr lang="en-US" sz="11200" dirty="0" smtClean="0"/>
              <a:t>Now we have to find P1, P2…..P7</a:t>
            </a:r>
          </a:p>
          <a:p>
            <a:pPr algn="just">
              <a:buNone/>
            </a:pPr>
            <a:r>
              <a:rPr lang="en-US" sz="11200" b="1" dirty="0" smtClean="0"/>
              <a:t>P1=</a:t>
            </a:r>
            <a:r>
              <a:rPr lang="en-US" sz="11200" dirty="0" smtClean="0"/>
              <a:t> a * ( f – h ) = 21</a:t>
            </a:r>
          </a:p>
          <a:p>
            <a:pPr algn="just">
              <a:buNone/>
            </a:pPr>
            <a:r>
              <a:rPr lang="en-US" sz="11200" b="1" dirty="0" smtClean="0"/>
              <a:t>P2 = </a:t>
            </a:r>
            <a:r>
              <a:rPr lang="en-US" sz="11200" dirty="0" smtClean="0"/>
              <a:t>h * ( a + b ) = 39</a:t>
            </a:r>
          </a:p>
          <a:p>
            <a:pPr algn="just">
              <a:buNone/>
            </a:pPr>
            <a:r>
              <a:rPr lang="en-US" sz="11200" b="1" dirty="0" smtClean="0"/>
              <a:t>P3 = </a:t>
            </a:r>
            <a:r>
              <a:rPr lang="en-US" sz="11200" dirty="0" smtClean="0"/>
              <a:t>e * ( c + d ) = 15</a:t>
            </a:r>
          </a:p>
          <a:p>
            <a:pPr algn="just">
              <a:buNone/>
            </a:pPr>
            <a:r>
              <a:rPr lang="en-US" sz="11200" b="1" dirty="0" smtClean="0"/>
              <a:t>P4 = d * ( g – e ) = -6</a:t>
            </a:r>
          </a:p>
          <a:p>
            <a:pPr>
              <a:buNone/>
            </a:pPr>
            <a:endParaRPr lang="en-US" sz="8600" b="1" dirty="0" smtClean="0"/>
          </a:p>
          <a:p>
            <a:endParaRPr lang="en-US" sz="2800" dirty="0"/>
          </a:p>
        </p:txBody>
      </p:sp>
      <p:pic>
        <p:nvPicPr>
          <p:cNvPr id="4" name="Picture 3" descr="3.png"/>
          <p:cNvPicPr>
            <a:picLocks noChangeAspect="1"/>
          </p:cNvPicPr>
          <p:nvPr/>
        </p:nvPicPr>
        <p:blipFill>
          <a:blip r:embed="rId2"/>
          <a:stretch>
            <a:fillRect/>
          </a:stretch>
        </p:blipFill>
        <p:spPr>
          <a:xfrm>
            <a:off x="762000" y="2438400"/>
            <a:ext cx="7467600" cy="1514697"/>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pPr>
              <a:buNone/>
            </a:pPr>
            <a:r>
              <a:rPr lang="en-US" sz="2800" b="1" dirty="0" smtClean="0"/>
              <a:t>P5 = </a:t>
            </a:r>
            <a:r>
              <a:rPr lang="en-US" sz="2800" dirty="0" smtClean="0"/>
              <a:t>( a + d ) * ( e + h ) = 72</a:t>
            </a:r>
          </a:p>
          <a:p>
            <a:pPr>
              <a:buNone/>
            </a:pPr>
            <a:r>
              <a:rPr lang="en-US" sz="2800" b="1" dirty="0" smtClean="0"/>
              <a:t>P6 = </a:t>
            </a:r>
            <a:r>
              <a:rPr lang="en-US" sz="2800" dirty="0" smtClean="0"/>
              <a:t>( b – d ) * ( g + h ) = 20</a:t>
            </a:r>
          </a:p>
          <a:p>
            <a:pPr>
              <a:buNone/>
            </a:pPr>
            <a:r>
              <a:rPr lang="en-US" sz="2800" b="1" dirty="0" smtClean="0"/>
              <a:t>P7 = </a:t>
            </a:r>
            <a:r>
              <a:rPr lang="en-US" sz="2800" dirty="0" smtClean="0"/>
              <a:t>( a – c ) * ( e + f ) = 66</a:t>
            </a:r>
          </a:p>
          <a:p>
            <a:pPr>
              <a:buNone/>
            </a:pPr>
            <a:r>
              <a:rPr lang="en-US" sz="2800" dirty="0" smtClean="0"/>
              <a:t>Now we have to find C,</a:t>
            </a:r>
          </a:p>
          <a:p>
            <a:endParaRPr lang="en-US" dirty="0" smtClean="0"/>
          </a:p>
          <a:p>
            <a:endParaRPr lang="en-US" dirty="0" smtClean="0"/>
          </a:p>
          <a:p>
            <a:endParaRPr lang="en-US" dirty="0"/>
          </a:p>
        </p:txBody>
      </p:sp>
      <p:pic>
        <p:nvPicPr>
          <p:cNvPr id="4" name="Picture 3" descr="4.png"/>
          <p:cNvPicPr>
            <a:picLocks noChangeAspect="1"/>
          </p:cNvPicPr>
          <p:nvPr/>
        </p:nvPicPr>
        <p:blipFill>
          <a:blip r:embed="rId2"/>
          <a:stretch>
            <a:fillRect/>
          </a:stretch>
        </p:blipFill>
        <p:spPr>
          <a:xfrm>
            <a:off x="381000" y="3810000"/>
            <a:ext cx="8001000" cy="2692943"/>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pPr>
              <a:buNone/>
            </a:pPr>
            <a:r>
              <a:rPr lang="en-US" sz="2800" dirty="0" smtClean="0"/>
              <a:t>So, C3 becomes</a:t>
            </a:r>
          </a:p>
          <a:p>
            <a:endParaRPr lang="en-US" dirty="0"/>
          </a:p>
        </p:txBody>
      </p:sp>
      <p:pic>
        <p:nvPicPr>
          <p:cNvPr id="5" name="Picture 4" descr="5.png"/>
          <p:cNvPicPr>
            <a:picLocks noChangeAspect="1"/>
          </p:cNvPicPr>
          <p:nvPr/>
        </p:nvPicPr>
        <p:blipFill>
          <a:blip r:embed="rId2"/>
          <a:stretch>
            <a:fillRect/>
          </a:stretch>
        </p:blipFill>
        <p:spPr>
          <a:xfrm>
            <a:off x="762000" y="2438400"/>
            <a:ext cx="5374506" cy="1600200"/>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lstStyle/>
          <a:p>
            <a:pPr>
              <a:buNone/>
            </a:pPr>
            <a:r>
              <a:rPr lang="en-US" sz="2800" dirty="0" smtClean="0"/>
              <a:t>Finally we need to find C4 which will be equivalent to C4=A4.B4</a:t>
            </a:r>
          </a:p>
          <a:p>
            <a:pPr>
              <a:buNone/>
            </a:pPr>
            <a:r>
              <a:rPr lang="en-US" sz="2800" dirty="0" smtClean="0"/>
              <a:t>So consider A4 &amp; B4</a:t>
            </a:r>
          </a:p>
          <a:p>
            <a:endParaRPr lang="en-US" dirty="0"/>
          </a:p>
        </p:txBody>
      </p:sp>
      <p:pic>
        <p:nvPicPr>
          <p:cNvPr id="4" name="Picture 3" descr="8.png"/>
          <p:cNvPicPr>
            <a:picLocks noChangeAspect="1"/>
          </p:cNvPicPr>
          <p:nvPr/>
        </p:nvPicPr>
        <p:blipFill>
          <a:blip r:embed="rId2"/>
          <a:stretch>
            <a:fillRect/>
          </a:stretch>
        </p:blipFill>
        <p:spPr>
          <a:xfrm>
            <a:off x="762000" y="3429000"/>
            <a:ext cx="7162800" cy="2670061"/>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dirty="0" smtClean="0"/>
              <a:t> matrix</a:t>
            </a:r>
            <a:endParaRPr lang="en-US" dirty="0"/>
          </a:p>
        </p:txBody>
      </p:sp>
      <p:sp>
        <p:nvSpPr>
          <p:cNvPr id="3" name="Content Placeholder 2"/>
          <p:cNvSpPr>
            <a:spLocks noGrp="1"/>
          </p:cNvSpPr>
          <p:nvPr>
            <p:ph idx="1"/>
          </p:nvPr>
        </p:nvSpPr>
        <p:spPr/>
        <p:txBody>
          <a:bodyPr>
            <a:normAutofit/>
          </a:bodyPr>
          <a:lstStyle/>
          <a:p>
            <a:pPr algn="just">
              <a:buNone/>
            </a:pPr>
            <a:r>
              <a:rPr lang="pt-BR" sz="2800" dirty="0" smtClean="0"/>
              <a:t>Finally find P1, P2….P7</a:t>
            </a:r>
          </a:p>
          <a:p>
            <a:pPr algn="just">
              <a:buNone/>
            </a:pPr>
            <a:r>
              <a:rPr lang="pt-BR" sz="2800" b="1" dirty="0" smtClean="0"/>
              <a:t>P1=</a:t>
            </a:r>
            <a:r>
              <a:rPr lang="pt-BR" sz="2800" dirty="0" smtClean="0"/>
              <a:t> a * ( f – h ) = 5</a:t>
            </a:r>
          </a:p>
          <a:p>
            <a:pPr algn="just">
              <a:buNone/>
            </a:pPr>
            <a:r>
              <a:rPr lang="pt-BR" sz="2800" b="1" dirty="0" smtClean="0"/>
              <a:t>P2 = </a:t>
            </a:r>
            <a:r>
              <a:rPr lang="pt-BR" sz="2800" dirty="0" smtClean="0"/>
              <a:t>h * ( a + b ) = 0</a:t>
            </a:r>
          </a:p>
          <a:p>
            <a:pPr algn="just">
              <a:buNone/>
            </a:pPr>
            <a:r>
              <a:rPr lang="pt-BR" sz="2800" b="1" dirty="0" smtClean="0"/>
              <a:t>P3 = </a:t>
            </a:r>
            <a:r>
              <a:rPr lang="pt-BR" sz="2800" dirty="0" smtClean="0"/>
              <a:t>e * ( c + d ) = 56</a:t>
            </a:r>
          </a:p>
          <a:p>
            <a:pPr algn="just">
              <a:buNone/>
            </a:pPr>
            <a:r>
              <a:rPr lang="pt-BR" sz="2800" b="1" dirty="0" smtClean="0"/>
              <a:t>P4 = </a:t>
            </a:r>
            <a:r>
              <a:rPr lang="pt-BR" sz="2800" dirty="0" smtClean="0"/>
              <a:t>d * ( g – e ) = 10</a:t>
            </a:r>
          </a:p>
          <a:p>
            <a:pPr algn="just">
              <a:buNone/>
            </a:pPr>
            <a:r>
              <a:rPr lang="pt-BR" sz="2800" b="1" dirty="0" smtClean="0"/>
              <a:t>P5 = </a:t>
            </a:r>
            <a:r>
              <a:rPr lang="pt-BR" sz="2800" dirty="0" smtClean="0"/>
              <a:t>( a + d ) * ( e + h ) = 70</a:t>
            </a:r>
          </a:p>
          <a:p>
            <a:pPr algn="just">
              <a:buNone/>
            </a:pPr>
            <a:r>
              <a:rPr lang="pt-BR" sz="2800" b="1" dirty="0" smtClean="0"/>
              <a:t>P6 = </a:t>
            </a:r>
            <a:r>
              <a:rPr lang="pt-BR" sz="2800" dirty="0" smtClean="0"/>
              <a:t>( b – d ) * ( g + h ) = -27</a:t>
            </a:r>
          </a:p>
          <a:p>
            <a:pPr algn="just">
              <a:buNone/>
            </a:pPr>
            <a:r>
              <a:rPr lang="pt-BR" sz="2800" b="1" dirty="0" smtClean="0"/>
              <a:t>P7 = </a:t>
            </a:r>
            <a:r>
              <a:rPr lang="pt-BR" sz="2800" dirty="0" smtClean="0"/>
              <a:t>( a – c ) * ( e + f ) = 16</a:t>
            </a:r>
          </a:p>
          <a:p>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of 4×4 </a:t>
            </a:r>
            <a:r>
              <a:rPr lang="en-US" dirty="0" err="1" smtClean="0"/>
              <a:t>Strassen’s</a:t>
            </a:r>
            <a:r>
              <a:rPr lang="en-US" smtClean="0"/>
              <a:t> matrix</a:t>
            </a:r>
            <a:endParaRPr lang="en-US"/>
          </a:p>
        </p:txBody>
      </p:sp>
      <p:sp>
        <p:nvSpPr>
          <p:cNvPr id="3" name="Content Placeholder 2"/>
          <p:cNvSpPr>
            <a:spLocks noGrp="1"/>
          </p:cNvSpPr>
          <p:nvPr>
            <p:ph idx="1"/>
          </p:nvPr>
        </p:nvSpPr>
        <p:spPr/>
        <p:txBody>
          <a:bodyPr/>
          <a:lstStyle/>
          <a:p>
            <a:r>
              <a:rPr lang="en-US" dirty="0" smtClean="0"/>
              <a:t>Now we have find C,</a:t>
            </a:r>
          </a:p>
          <a:p>
            <a:endParaRPr lang="en-US" dirty="0" smtClean="0"/>
          </a:p>
          <a:p>
            <a:endParaRPr lang="en-US" dirty="0" smtClean="0"/>
          </a:p>
          <a:p>
            <a:endParaRPr lang="en-US" dirty="0" smtClean="0"/>
          </a:p>
          <a:p>
            <a:r>
              <a:rPr lang="en-US" dirty="0" smtClean="0"/>
              <a:t>Finally C4 will be equal to,</a:t>
            </a:r>
          </a:p>
          <a:p>
            <a:endParaRPr lang="en-US" dirty="0"/>
          </a:p>
        </p:txBody>
      </p:sp>
      <p:pic>
        <p:nvPicPr>
          <p:cNvPr id="4" name="Picture 3" descr="9.png"/>
          <p:cNvPicPr>
            <a:picLocks noChangeAspect="1"/>
          </p:cNvPicPr>
          <p:nvPr/>
        </p:nvPicPr>
        <p:blipFill>
          <a:blip r:embed="rId2"/>
          <a:stretch>
            <a:fillRect/>
          </a:stretch>
        </p:blipFill>
        <p:spPr>
          <a:xfrm>
            <a:off x="685800" y="2209800"/>
            <a:ext cx="7696200" cy="1648055"/>
          </a:xfrm>
          <a:prstGeom prst="rect">
            <a:avLst/>
          </a:prstGeom>
        </p:spPr>
      </p:pic>
      <p:pic>
        <p:nvPicPr>
          <p:cNvPr id="5" name="Picture 4" descr="10.png"/>
          <p:cNvPicPr>
            <a:picLocks noChangeAspect="1"/>
          </p:cNvPicPr>
          <p:nvPr/>
        </p:nvPicPr>
        <p:blipFill>
          <a:blip r:embed="rId3"/>
          <a:stretch>
            <a:fillRect/>
          </a:stretch>
        </p:blipFill>
        <p:spPr>
          <a:xfrm>
            <a:off x="990600" y="4648200"/>
            <a:ext cx="5410200" cy="1724266"/>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rot="20958760">
            <a:off x="1390311" y="1534788"/>
            <a:ext cx="6099086" cy="2800767"/>
          </a:xfrm>
          <a:prstGeom prst="rect">
            <a:avLst/>
          </a:prstGeom>
          <a:noFill/>
        </p:spPr>
        <p:txBody>
          <a:bodyPr wrap="square" lIns="91440" tIns="45720" rIns="91440" bIns="45720">
            <a:spAutoFit/>
          </a:bodyPr>
          <a:lstStyle/>
          <a:p>
            <a:pPr algn="ctr"/>
            <a:r>
              <a:rPr lang="en-US" sz="8800" b="1" cap="all" spc="0" dirty="0" smtClean="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US" sz="8800" b="1" cap="all" spc="0"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730</TotalTime>
  <Words>2402</Words>
  <Application>Microsoft Office PowerPoint</Application>
  <PresentationFormat>On-screen Show (4:3)</PresentationFormat>
  <Paragraphs>465</Paragraphs>
  <Slides>88</Slides>
  <Notes>0</Notes>
  <HiddenSlides>0</HiddenSlides>
  <MMClips>0</MMClips>
  <ScaleCrop>false</ScaleCrop>
  <HeadingPairs>
    <vt:vector size="4" baseType="variant">
      <vt:variant>
        <vt:lpstr>Theme</vt:lpstr>
      </vt:variant>
      <vt:variant>
        <vt:i4>1</vt:i4>
      </vt:variant>
      <vt:variant>
        <vt:lpstr>Slide Titles</vt:lpstr>
      </vt:variant>
      <vt:variant>
        <vt:i4>88</vt:i4>
      </vt:variant>
    </vt:vector>
  </HeadingPairs>
  <TitlesOfParts>
    <vt:vector size="89" baseType="lpstr">
      <vt:lpstr>Office Theme</vt:lpstr>
      <vt:lpstr>Unit-1</vt:lpstr>
      <vt:lpstr>Algorithm</vt:lpstr>
      <vt:lpstr>Properties of Algorithm</vt:lpstr>
      <vt:lpstr>Properties of Algorithm</vt:lpstr>
      <vt:lpstr>Properties of Algorithm</vt:lpstr>
      <vt:lpstr>Algorithm Design Techniques</vt:lpstr>
      <vt:lpstr>Divide and Conquer Approach</vt:lpstr>
      <vt:lpstr>Greedy Technique</vt:lpstr>
      <vt:lpstr> Counting Coins </vt:lpstr>
      <vt:lpstr> Counting Coins Contd </vt:lpstr>
      <vt:lpstr>  Counting Coins Contd  </vt:lpstr>
      <vt:lpstr>Dynamic Programming</vt:lpstr>
      <vt:lpstr>Dynamic Programming</vt:lpstr>
      <vt:lpstr>Backtracking Algorithm</vt:lpstr>
      <vt:lpstr>Branch and Bound</vt:lpstr>
      <vt:lpstr> Algorithm Analysis </vt:lpstr>
      <vt:lpstr>Algorithm Analysis </vt:lpstr>
      <vt:lpstr>Space Complexity</vt:lpstr>
      <vt:lpstr>Fixed Part Space Complexity </vt:lpstr>
      <vt:lpstr>Variable Part Space Complexity </vt:lpstr>
      <vt:lpstr> Memory Usage while Execution </vt:lpstr>
      <vt:lpstr>Memory Usage while Execution</vt:lpstr>
      <vt:lpstr>Memory Usage while Execution</vt:lpstr>
      <vt:lpstr>Space Complexity</vt:lpstr>
      <vt:lpstr>Calculate Space Complexity</vt:lpstr>
      <vt:lpstr>Solution </vt:lpstr>
      <vt:lpstr>Calculate Space Complexity</vt:lpstr>
      <vt:lpstr>Solution</vt:lpstr>
      <vt:lpstr> Time Complexity </vt:lpstr>
      <vt:lpstr>PowerPoint Presentation</vt:lpstr>
      <vt:lpstr> Asymptotic Notations </vt:lpstr>
      <vt:lpstr>Different types of Asymptotic notations</vt:lpstr>
      <vt:lpstr> O: Asymptotic Upper Bound </vt:lpstr>
      <vt:lpstr>  Ω: Asymptotic Lower Bound  </vt:lpstr>
      <vt:lpstr> θ: Asymptotic Tight Bound </vt:lpstr>
      <vt:lpstr> Apriori and Apostiari Analysis </vt:lpstr>
      <vt:lpstr> Apriori and Apostiari Analysis </vt:lpstr>
      <vt:lpstr> Recurrence Relation </vt:lpstr>
      <vt:lpstr>Methods for solving Recurrence</vt:lpstr>
      <vt:lpstr>Substitution Method</vt:lpstr>
      <vt:lpstr> Backward Substitution </vt:lpstr>
      <vt:lpstr>  Backward Substitution  </vt:lpstr>
      <vt:lpstr> Recursion Tree Method </vt:lpstr>
      <vt:lpstr>Solve</vt:lpstr>
      <vt:lpstr>Master Method</vt:lpstr>
      <vt:lpstr>Master Method</vt:lpstr>
      <vt:lpstr>Master Method</vt:lpstr>
      <vt:lpstr>Problem-01</vt:lpstr>
      <vt:lpstr>Problem-01</vt:lpstr>
      <vt:lpstr> Problem-02 </vt:lpstr>
      <vt:lpstr>Problem-02</vt:lpstr>
      <vt:lpstr>Problem-03</vt:lpstr>
      <vt:lpstr>Problem-03</vt:lpstr>
      <vt:lpstr>Problem-04</vt:lpstr>
      <vt:lpstr>Problem-04</vt:lpstr>
      <vt:lpstr>Heap Sort</vt:lpstr>
      <vt:lpstr>Heap sort Algorithm</vt:lpstr>
      <vt:lpstr>Heap sort Algorithm</vt:lpstr>
      <vt:lpstr>Heap sort Algorithm</vt:lpstr>
      <vt:lpstr>Merge sort Algorithm</vt:lpstr>
      <vt:lpstr>Merge sort Algorithm</vt:lpstr>
      <vt:lpstr>Merge sort Algorithm</vt:lpstr>
      <vt:lpstr>Normal Matrix Multiplication</vt:lpstr>
      <vt:lpstr>Divide and Conquer</vt:lpstr>
      <vt:lpstr>Divide and Conquer</vt:lpstr>
      <vt:lpstr>Divide and Conquer</vt:lpstr>
      <vt:lpstr> Strassen’s Matrix Multiplication </vt:lpstr>
      <vt:lpstr>Strassen’s Matrix Multiplication</vt:lpstr>
      <vt:lpstr>Strassen’s Matrix Multiplication</vt:lpstr>
      <vt:lpstr>Time Complexity of Strassen’s Method</vt:lpstr>
      <vt:lpstr> Example of 4×4 Strassen’s matrix </vt:lpstr>
      <vt:lpstr> Example of 4×4 Strassen’s matrix </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Example of 4×4 Strassen’s matrix</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dc:title>
  <dc:creator>lenovo</dc:creator>
  <cp:lastModifiedBy>HP</cp:lastModifiedBy>
  <cp:revision>116</cp:revision>
  <dcterms:created xsi:type="dcterms:W3CDTF">2006-08-16T00:00:00Z</dcterms:created>
  <dcterms:modified xsi:type="dcterms:W3CDTF">2023-12-11T17:34:24Z</dcterms:modified>
</cp:coreProperties>
</file>